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Child Law Legal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8DCFF"/>
                </a:solidFill>
              </a:defRPr>
            </a:pPr>
            <a:r>
              <a:t>System Architecture &amp;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D6EFD"/>
                </a:solidFill>
              </a:defRPr>
            </a:pPr>
            <a:r>
              <a:t>System Architecture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468880" cy="1463040"/>
          </a:xfrm>
          <a:prstGeom prst="rect">
            <a:avLst/>
          </a:prstGeom>
          <a:solidFill>
            <a:srgbClr val="F3E5F5"/>
          </a:solidFill>
          <a:ln w="254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Input Layer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app.py - Main Entry Point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Interactive Menu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User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097280"/>
            <a:ext cx="2468880" cy="1463040"/>
          </a:xfrm>
          <a:prstGeom prst="rect">
            <a:avLst/>
          </a:prstGeom>
          <a:solidFill>
            <a:srgbClr val="FFF3E0"/>
          </a:solidFill>
          <a:ln w="254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Validation Layer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answer_generation.py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Domain Validation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State Filtering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097280"/>
            <a:ext cx="2468880" cy="1463040"/>
          </a:xfrm>
          <a:prstGeom prst="rect">
            <a:avLst/>
          </a:prstGeom>
          <a:solidFill>
            <a:srgbClr val="E1F5FF"/>
          </a:solidFill>
          <a:ln w="254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Data Processing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document_processing.py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Load &amp; Chunk Documents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embeddings.py - Cache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0"/>
            <a:ext cx="2468880" cy="1463040"/>
          </a:xfrm>
          <a:prstGeom prst="rect">
            <a:avLst/>
          </a:prstGeom>
          <a:solidFill>
            <a:srgbClr val="FFF3E0"/>
          </a:solidFill>
          <a:ln w="254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Retrieval Methods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retrieval.py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Dense, Hybrid,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Multi-Query, Corrective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2468880" cy="1463040"/>
          </a:xfrm>
          <a:prstGeom prst="rect">
            <a:avLst/>
          </a:prstGeom>
          <a:solidFill>
            <a:srgbClr val="E1F5FF"/>
          </a:solidFill>
          <a:ln w="254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Generation &amp; Processing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answer_generation.py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LLM-based Answer Gen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Citation Management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3200400"/>
            <a:ext cx="2468880" cy="1463040"/>
          </a:xfrm>
          <a:prstGeom prst="rect">
            <a:avLst/>
          </a:prstGeom>
          <a:solidFill>
            <a:srgbClr val="E1F5FF"/>
          </a:solidFill>
          <a:ln w="2540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400" b="1">
                <a:solidFill>
                  <a:srgbClr val="212121"/>
                </a:solidFill>
              </a:defRPr>
            </a:pPr>
            <a:r>
              <a:t>Evaluation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evaluation.py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Relevance Scoring</a:t>
            </a:r>
          </a:p>
          <a:p>
            <a:pPr>
              <a:spcBef>
                <a:spcPts val="200"/>
              </a:spcBef>
              <a:defRPr sz="1000">
                <a:solidFill>
                  <a:srgbClr val="212121"/>
                </a:solidFill>
              </a:defRPr>
            </a:pPr>
            <a:r>
              <a:t>• Performance 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D6EFD"/>
                </a:solidFill>
              </a:defRPr>
            </a:pPr>
            <a:r>
              <a:t>Data Flow &amp; 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300" b="1">
                <a:solidFill>
                  <a:srgbClr val="0D6EFD"/>
                </a:solidFill>
              </a:defRPr>
            </a:pPr>
            <a:r>
              <a:t>1. Question Input</a:t>
            </a:r>
          </a:p>
          <a:p>
            <a:pPr lvl="1"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User enters a question about Child Law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200"/>
              </a:spcAft>
              <a:defRPr sz="1300" b="1">
                <a:solidFill>
                  <a:srgbClr val="0D6EFD"/>
                </a:solidFill>
              </a:defRPr>
            </a:pPr>
            <a:r>
              <a:t>2. Validation</a:t>
            </a:r>
          </a:p>
          <a:p>
            <a:pPr lvl="1"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Check if question is related to Child Laws &amp; filter by state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200"/>
              </a:spcAft>
              <a:defRPr sz="1300" b="1">
                <a:solidFill>
                  <a:srgbClr val="0D6EFD"/>
                </a:solidFill>
              </a:defRPr>
            </a:pPr>
            <a:r>
              <a:t>3. Embeddings</a:t>
            </a:r>
          </a:p>
          <a:p>
            <a:pPr lvl="1"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Load or create embeddings cache for documents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200"/>
              </a:spcAft>
              <a:defRPr sz="1300" b="1">
                <a:solidFill>
                  <a:srgbClr val="0D6EFD"/>
                </a:solidFill>
              </a:defRPr>
            </a:pPr>
            <a:r>
              <a:t>4. Retrieval</a:t>
            </a:r>
          </a:p>
          <a:p>
            <a:pPr lvl="1"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Use Dense/Hybrid/Multi-Query/Corrective methods to retrieve relevant chunks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200"/>
              </a:spcAft>
              <a:defRPr sz="1300" b="1">
                <a:solidFill>
                  <a:srgbClr val="0D6EFD"/>
                </a:solidFill>
              </a:defRPr>
            </a:pPr>
            <a:r>
              <a:t>5. Generation</a:t>
            </a:r>
          </a:p>
          <a:p>
            <a:pPr lvl="1"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Generate answer using llama3.2 LLM with citations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200"/>
              </a:spcAft>
              <a:defRPr sz="1300" b="1">
                <a:solidFill>
                  <a:srgbClr val="0D6EFD"/>
                </a:solidFill>
              </a:defRPr>
            </a:pPr>
            <a:r>
              <a:t>6. Evaluation</a:t>
            </a:r>
          </a:p>
          <a:p>
            <a:pPr lvl="1"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Score relevance and calculate performance metrics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200"/>
              </a:spcAft>
              <a:defRPr sz="1300" b="1">
                <a:solidFill>
                  <a:srgbClr val="0D6EFD"/>
                </a:solidFill>
              </a:defRPr>
            </a:pPr>
            <a:r>
              <a:t>7. Display</a:t>
            </a:r>
          </a:p>
          <a:p>
            <a:pPr lvl="1">
              <a:spcAft>
                <a:spcPts val="600"/>
              </a:spcAft>
              <a:defRPr sz="1100">
                <a:solidFill>
                  <a:srgbClr val="212121"/>
                </a:solidFill>
              </a:defRPr>
            </a:pPr>
            <a:r>
              <a:t>Show answer with citations and source documents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D6EFD"/>
                </a:solidFill>
              </a:defRPr>
            </a:pPr>
            <a:r>
              <a:t>Retrieval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6EFD"/>
                </a:solidFill>
              </a:defRPr>
            </a:pPr>
            <a:r>
              <a:t>▸ Dense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50876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Uses embedding similarity search to find top-K relevant chunks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6EFD"/>
                </a:solidFill>
              </a:defRPr>
            </a:pPr>
            <a:r>
              <a:t>▸ Hybrid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9748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Combines 70% embedding similarity + 30% BM25 keyword matching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6EFD"/>
                </a:solidFill>
              </a:defRPr>
            </a:pPr>
            <a:r>
              <a:t>▸ Multi-Query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8620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Generates multiple query variants and aggregates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6EFD"/>
                </a:solidFill>
              </a:defRPr>
            </a:pPr>
            <a:r>
              <a:t>▸ Corrective 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07492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Fallback method with quality validation for better accuracy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D6EFD"/>
                </a:solidFill>
              </a:defRPr>
            </a:pPr>
            <a:r>
              <a:t>Technical Stack &amp;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6EFD"/>
                </a:solidFill>
              </a:defRPr>
            </a:pPr>
            <a:r>
              <a:t>Embedding Model: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nomic-embed-text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6EFD"/>
                </a:solidFill>
              </a:defRPr>
            </a:pPr>
            <a:r>
              <a:t>Language Model: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llama3.2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6EFD"/>
                </a:solidFill>
              </a:defRPr>
            </a:pPr>
            <a:r>
              <a:t>Framework: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Python with LangChain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6EFD"/>
                </a:solidFill>
              </a:defRPr>
            </a:pPr>
            <a:r>
              <a:t>Vector Storage: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In-memory embeddings cache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18872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6EFD"/>
                </a:solidFill>
              </a:defRPr>
            </a:pPr>
            <a:r>
              <a:t>Document Format: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PDF &amp; Text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01168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6EFD"/>
                </a:solidFill>
              </a:defRPr>
            </a:pPr>
            <a:r>
              <a:t>Keyword Matching: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BM25 (rank_bm25)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8346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6EFD"/>
                </a:solidFill>
              </a:defRPr>
            </a:pPr>
            <a:r>
              <a:t>API Integration: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Ollama (local LLM)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6576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D6EFD"/>
                </a:solidFill>
              </a:defRPr>
            </a:pPr>
            <a:r>
              <a:t>Main Dependencies: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</a:defRPr>
            </a:pPr>
            <a:r>
              <a:t>OpenAI SDK, LangChain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