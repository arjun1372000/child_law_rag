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sldIdLst>
    <p:sldId id="335" r:id="rId2"/>
    <p:sldId id="324" r:id="rId3"/>
    <p:sldId id="336" r:id="rId4"/>
    <p:sldId id="337" r:id="rId5"/>
    <p:sldId id="325" r:id="rId6"/>
    <p:sldId id="264" r:id="rId7"/>
    <p:sldId id="323" r:id="rId8"/>
    <p:sldId id="338" r:id="rId9"/>
    <p:sldId id="334" r:id="rId10"/>
    <p:sldId id="265" r:id="rId11"/>
    <p:sldId id="312" r:id="rId12"/>
    <p:sldId id="328" r:id="rId13"/>
    <p:sldId id="330" r:id="rId14"/>
    <p:sldId id="331" r:id="rId15"/>
    <p:sldId id="332" r:id="rId16"/>
    <p:sldId id="327" r:id="rId17"/>
    <p:sldId id="316" r:id="rId18"/>
    <p:sldId id="317" r:id="rId19"/>
    <p:sldId id="318" r:id="rId20"/>
    <p:sldId id="319" r:id="rId21"/>
    <p:sldId id="321" r:id="rId22"/>
  </p:sldIdLst>
  <p:sldSz cx="12801600" cy="7315200"/>
  <p:notesSz cx="6858000" cy="9144000"/>
  <p:defaultText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E1F2"/>
    <a:srgbClr val="558ED5"/>
    <a:srgbClr val="C6D9F1"/>
    <a:srgbClr val="558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398" y="53"/>
      </p:cViewPr>
      <p:guideLst>
        <p:guide orient="horz" pos="2304"/>
        <p:guide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CD7A36-15CF-4B40-B7C9-B299C824610E}" type="datetimeFigureOut">
              <a:rPr lang="en-US" smtClean="0"/>
              <a:t>4/5/2026</a:t>
            </a:fld>
            <a:endParaRPr lang="en-US"/>
          </a:p>
        </p:txBody>
      </p:sp>
      <p:sp>
        <p:nvSpPr>
          <p:cNvPr id="4" name="Slide Image Placeholder 3"/>
          <p:cNvSpPr>
            <a:spLocks noGrp="1" noRot="1" noChangeAspect="1"/>
          </p:cNvSpPr>
          <p:nvPr>
            <p:ph type="sldImg" idx="2"/>
          </p:nvPr>
        </p:nvSpPr>
        <p:spPr>
          <a:xfrm>
            <a:off x="428625" y="685800"/>
            <a:ext cx="6000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DE4103-D868-498D-BB7B-ABDA25F9744E}" type="slidenum">
              <a:rPr lang="en-US" smtClean="0"/>
              <a:t>‹#›</a:t>
            </a:fld>
            <a:endParaRPr lang="en-US"/>
          </a:p>
        </p:txBody>
      </p:sp>
    </p:spTree>
    <p:extLst>
      <p:ext uri="{BB962C8B-B14F-4D97-AF65-F5344CB8AC3E}">
        <p14:creationId xmlns:p14="http://schemas.microsoft.com/office/powerpoint/2010/main" val="4146365420"/>
      </p:ext>
    </p:extLst>
  </p:cSld>
  <p:clrMap bg1="lt1" tx1="dk1" bg2="lt2" tx2="dk2" accent1="accent1" accent2="accent2" accent3="accent3" accent4="accent4" accent5="accent5" accent6="accent6" hlink="hlink" folHlink="folHlink"/>
  <p:notesStyle>
    <a:lvl1pPr marL="0" algn="l" defTabSz="1149448" rtl="0" eaLnBrk="1" latinLnBrk="0" hangingPunct="1">
      <a:defRPr sz="1500" kern="1200">
        <a:solidFill>
          <a:schemeClr val="tx1"/>
        </a:solidFill>
        <a:latin typeface="+mn-lt"/>
        <a:ea typeface="+mn-ea"/>
        <a:cs typeface="+mn-cs"/>
      </a:defRPr>
    </a:lvl1pPr>
    <a:lvl2pPr marL="574724" algn="l" defTabSz="1149448" rtl="0" eaLnBrk="1" latinLnBrk="0" hangingPunct="1">
      <a:defRPr sz="1500" kern="1200">
        <a:solidFill>
          <a:schemeClr val="tx1"/>
        </a:solidFill>
        <a:latin typeface="+mn-lt"/>
        <a:ea typeface="+mn-ea"/>
        <a:cs typeface="+mn-cs"/>
      </a:defRPr>
    </a:lvl2pPr>
    <a:lvl3pPr marL="1149448" algn="l" defTabSz="1149448" rtl="0" eaLnBrk="1" latinLnBrk="0" hangingPunct="1">
      <a:defRPr sz="1500" kern="1200">
        <a:solidFill>
          <a:schemeClr val="tx1"/>
        </a:solidFill>
        <a:latin typeface="+mn-lt"/>
        <a:ea typeface="+mn-ea"/>
        <a:cs typeface="+mn-cs"/>
      </a:defRPr>
    </a:lvl3pPr>
    <a:lvl4pPr marL="1724172" algn="l" defTabSz="1149448" rtl="0" eaLnBrk="1" latinLnBrk="0" hangingPunct="1">
      <a:defRPr sz="1500" kern="1200">
        <a:solidFill>
          <a:schemeClr val="tx1"/>
        </a:solidFill>
        <a:latin typeface="+mn-lt"/>
        <a:ea typeface="+mn-ea"/>
        <a:cs typeface="+mn-cs"/>
      </a:defRPr>
    </a:lvl4pPr>
    <a:lvl5pPr marL="2298895" algn="l" defTabSz="1149448" rtl="0" eaLnBrk="1" latinLnBrk="0" hangingPunct="1">
      <a:defRPr sz="1500" kern="1200">
        <a:solidFill>
          <a:schemeClr val="tx1"/>
        </a:solidFill>
        <a:latin typeface="+mn-lt"/>
        <a:ea typeface="+mn-ea"/>
        <a:cs typeface="+mn-cs"/>
      </a:defRPr>
    </a:lvl5pPr>
    <a:lvl6pPr marL="2873621" algn="l" defTabSz="1149448" rtl="0" eaLnBrk="1" latinLnBrk="0" hangingPunct="1">
      <a:defRPr sz="1500" kern="1200">
        <a:solidFill>
          <a:schemeClr val="tx1"/>
        </a:solidFill>
        <a:latin typeface="+mn-lt"/>
        <a:ea typeface="+mn-ea"/>
        <a:cs typeface="+mn-cs"/>
      </a:defRPr>
    </a:lvl6pPr>
    <a:lvl7pPr marL="3448344" algn="l" defTabSz="1149448" rtl="0" eaLnBrk="1" latinLnBrk="0" hangingPunct="1">
      <a:defRPr sz="1500" kern="1200">
        <a:solidFill>
          <a:schemeClr val="tx1"/>
        </a:solidFill>
        <a:latin typeface="+mn-lt"/>
        <a:ea typeface="+mn-ea"/>
        <a:cs typeface="+mn-cs"/>
      </a:defRPr>
    </a:lvl7pPr>
    <a:lvl8pPr marL="4023069" algn="l" defTabSz="1149448" rtl="0" eaLnBrk="1" latinLnBrk="0" hangingPunct="1">
      <a:defRPr sz="1500" kern="1200">
        <a:solidFill>
          <a:schemeClr val="tx1"/>
        </a:solidFill>
        <a:latin typeface="+mn-lt"/>
        <a:ea typeface="+mn-ea"/>
        <a:cs typeface="+mn-cs"/>
      </a:defRPr>
    </a:lvl8pPr>
    <a:lvl9pPr marL="4597793" algn="l" defTabSz="1149448" rtl="0" eaLnBrk="1" latinLnBrk="0" hangingPunct="1">
      <a:defRPr sz="1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272456"/>
            <a:ext cx="10881360" cy="1568027"/>
          </a:xfrm>
        </p:spPr>
        <p:txBody>
          <a:bodyPr/>
          <a:lstStyle/>
          <a:p>
            <a:r>
              <a:rPr lang="en-US"/>
              <a:t>Click to edit Master title style</a:t>
            </a:r>
          </a:p>
        </p:txBody>
      </p:sp>
      <p:sp>
        <p:nvSpPr>
          <p:cNvPr id="3" name="Subtitle 2"/>
          <p:cNvSpPr>
            <a:spLocks noGrp="1"/>
          </p:cNvSpPr>
          <p:nvPr>
            <p:ph type="subTitle" idx="1"/>
          </p:nvPr>
        </p:nvSpPr>
        <p:spPr>
          <a:xfrm>
            <a:off x="1920240" y="4145280"/>
            <a:ext cx="8961120" cy="1869440"/>
          </a:xfrm>
        </p:spPr>
        <p:txBody>
          <a:bodyPr/>
          <a:lstStyle>
            <a:lvl1pPr marL="0" indent="0" algn="ctr">
              <a:buNone/>
              <a:defRPr>
                <a:solidFill>
                  <a:schemeClr val="tx1">
                    <a:tint val="75000"/>
                  </a:schemeClr>
                </a:solidFill>
              </a:defRPr>
            </a:lvl1pPr>
            <a:lvl2pPr marL="574724" indent="0" algn="ctr">
              <a:buNone/>
              <a:defRPr>
                <a:solidFill>
                  <a:schemeClr val="tx1">
                    <a:tint val="75000"/>
                  </a:schemeClr>
                </a:solidFill>
              </a:defRPr>
            </a:lvl2pPr>
            <a:lvl3pPr marL="1149448" indent="0" algn="ctr">
              <a:buNone/>
              <a:defRPr>
                <a:solidFill>
                  <a:schemeClr val="tx1">
                    <a:tint val="75000"/>
                  </a:schemeClr>
                </a:solidFill>
              </a:defRPr>
            </a:lvl3pPr>
            <a:lvl4pPr marL="1724172" indent="0" algn="ctr">
              <a:buNone/>
              <a:defRPr>
                <a:solidFill>
                  <a:schemeClr val="tx1">
                    <a:tint val="75000"/>
                  </a:schemeClr>
                </a:solidFill>
              </a:defRPr>
            </a:lvl4pPr>
            <a:lvl5pPr marL="2298895" indent="0" algn="ctr">
              <a:buNone/>
              <a:defRPr>
                <a:solidFill>
                  <a:schemeClr val="tx1">
                    <a:tint val="75000"/>
                  </a:schemeClr>
                </a:solidFill>
              </a:defRPr>
            </a:lvl5pPr>
            <a:lvl6pPr marL="2873621" indent="0" algn="ctr">
              <a:buNone/>
              <a:defRPr>
                <a:solidFill>
                  <a:schemeClr val="tx1">
                    <a:tint val="75000"/>
                  </a:schemeClr>
                </a:solidFill>
              </a:defRPr>
            </a:lvl6pPr>
            <a:lvl7pPr marL="3448344" indent="0" algn="ctr">
              <a:buNone/>
              <a:defRPr>
                <a:solidFill>
                  <a:schemeClr val="tx1">
                    <a:tint val="75000"/>
                  </a:schemeClr>
                </a:solidFill>
              </a:defRPr>
            </a:lvl7pPr>
            <a:lvl8pPr marL="4023069" indent="0" algn="ctr">
              <a:buNone/>
              <a:defRPr>
                <a:solidFill>
                  <a:schemeClr val="tx1">
                    <a:tint val="75000"/>
                  </a:schemeClr>
                </a:solidFill>
              </a:defRPr>
            </a:lvl8pPr>
            <a:lvl9pPr marL="459779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2E1E87-9C15-4984-91E0-215221CAF7F6}" type="datetime1">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505882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116BE9-D6CB-4D14-A12D-7F5512E1435B}" type="datetime1">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14106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700695"/>
            <a:ext cx="10881360" cy="1452880"/>
          </a:xfrm>
        </p:spPr>
        <p:txBody>
          <a:bodyPr anchor="t"/>
          <a:lstStyle>
            <a:lvl1pPr algn="l">
              <a:defRPr sz="5100" b="1" cap="all"/>
            </a:lvl1pPr>
          </a:lstStyle>
          <a:p>
            <a:r>
              <a:rPr lang="en-US"/>
              <a:t>Click to edit Master title style</a:t>
            </a:r>
          </a:p>
        </p:txBody>
      </p:sp>
      <p:sp>
        <p:nvSpPr>
          <p:cNvPr id="3" name="Text Placeholder 2"/>
          <p:cNvSpPr>
            <a:spLocks noGrp="1"/>
          </p:cNvSpPr>
          <p:nvPr>
            <p:ph type="body" idx="1"/>
          </p:nvPr>
        </p:nvSpPr>
        <p:spPr>
          <a:xfrm>
            <a:off x="1011238" y="3100496"/>
            <a:ext cx="10881360" cy="1600199"/>
          </a:xfrm>
        </p:spPr>
        <p:txBody>
          <a:bodyPr anchor="b"/>
          <a:lstStyle>
            <a:lvl1pPr marL="0" indent="0">
              <a:buNone/>
              <a:defRPr sz="2500">
                <a:solidFill>
                  <a:schemeClr val="tx1">
                    <a:tint val="75000"/>
                  </a:schemeClr>
                </a:solidFill>
              </a:defRPr>
            </a:lvl1pPr>
            <a:lvl2pPr marL="574724" indent="0">
              <a:buNone/>
              <a:defRPr sz="2300">
                <a:solidFill>
                  <a:schemeClr val="tx1">
                    <a:tint val="75000"/>
                  </a:schemeClr>
                </a:solidFill>
              </a:defRPr>
            </a:lvl2pPr>
            <a:lvl3pPr marL="1149448" indent="0">
              <a:buNone/>
              <a:defRPr sz="2000">
                <a:solidFill>
                  <a:schemeClr val="tx1">
                    <a:tint val="75000"/>
                  </a:schemeClr>
                </a:solidFill>
              </a:defRPr>
            </a:lvl3pPr>
            <a:lvl4pPr marL="1724172" indent="0">
              <a:buNone/>
              <a:defRPr sz="1800">
                <a:solidFill>
                  <a:schemeClr val="tx1">
                    <a:tint val="75000"/>
                  </a:schemeClr>
                </a:solidFill>
              </a:defRPr>
            </a:lvl4pPr>
            <a:lvl5pPr marL="2298895" indent="0">
              <a:buNone/>
              <a:defRPr sz="1800">
                <a:solidFill>
                  <a:schemeClr val="tx1">
                    <a:tint val="75000"/>
                  </a:schemeClr>
                </a:solidFill>
              </a:defRPr>
            </a:lvl5pPr>
            <a:lvl6pPr marL="2873621" indent="0">
              <a:buNone/>
              <a:defRPr sz="1800">
                <a:solidFill>
                  <a:schemeClr val="tx1">
                    <a:tint val="75000"/>
                  </a:schemeClr>
                </a:solidFill>
              </a:defRPr>
            </a:lvl6pPr>
            <a:lvl7pPr marL="3448344" indent="0">
              <a:buNone/>
              <a:defRPr sz="1800">
                <a:solidFill>
                  <a:schemeClr val="tx1">
                    <a:tint val="75000"/>
                  </a:schemeClr>
                </a:solidFill>
              </a:defRPr>
            </a:lvl7pPr>
            <a:lvl8pPr marL="4023069" indent="0">
              <a:buNone/>
              <a:defRPr sz="1800">
                <a:solidFill>
                  <a:schemeClr val="tx1">
                    <a:tint val="75000"/>
                  </a:schemeClr>
                </a:solidFill>
              </a:defRPr>
            </a:lvl8pPr>
            <a:lvl9pPr marL="4597793" indent="0">
              <a:buNone/>
              <a:defRPr sz="1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A9D04-24B9-408C-A000-3B78FDBD0AEB}" type="datetime1">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8602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00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74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B91B48-F2B5-44C0-A324-732125246729}" type="datetime1">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89833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1637454"/>
            <a:ext cx="5656263"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4" name="Content Placeholder 3"/>
          <p:cNvSpPr>
            <a:spLocks noGrp="1"/>
          </p:cNvSpPr>
          <p:nvPr>
            <p:ph sz="half" idx="2"/>
          </p:nvPr>
        </p:nvSpPr>
        <p:spPr>
          <a:xfrm>
            <a:off x="640080" y="2319868"/>
            <a:ext cx="5656263"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7" y="1637454"/>
            <a:ext cx="5658485"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6" name="Content Placeholder 5"/>
          <p:cNvSpPr>
            <a:spLocks noGrp="1"/>
          </p:cNvSpPr>
          <p:nvPr>
            <p:ph sz="quarter" idx="4"/>
          </p:nvPr>
        </p:nvSpPr>
        <p:spPr>
          <a:xfrm>
            <a:off x="6503037" y="2319868"/>
            <a:ext cx="5658485"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337E91-F602-4F18-92CA-FB1A231376B0}" type="datetime1">
              <a:rPr lang="en-US" smtClean="0"/>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7936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818EFE-411D-495F-AE32-482368671348}" type="datetime1">
              <a:rPr lang="en-US" smtClean="0"/>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03621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129DD-E279-4A67-BA32-75987FE76FB7}" type="datetime1">
              <a:rPr lang="en-US" smtClean="0"/>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844010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2" y="291252"/>
            <a:ext cx="4211638" cy="1239521"/>
          </a:xfrm>
        </p:spPr>
        <p:txBody>
          <a:bodyPr anchor="b"/>
          <a:lstStyle>
            <a:lvl1pPr algn="l">
              <a:defRPr sz="2500" b="1"/>
            </a:lvl1pPr>
          </a:lstStyle>
          <a:p>
            <a:r>
              <a:rPr lang="en-US"/>
              <a:t>Click to edit Master title style</a:t>
            </a:r>
          </a:p>
        </p:txBody>
      </p:sp>
      <p:sp>
        <p:nvSpPr>
          <p:cNvPr id="3" name="Content Placeholder 2"/>
          <p:cNvSpPr>
            <a:spLocks noGrp="1"/>
          </p:cNvSpPr>
          <p:nvPr>
            <p:ph idx="1"/>
          </p:nvPr>
        </p:nvSpPr>
        <p:spPr>
          <a:xfrm>
            <a:off x="5005070" y="291255"/>
            <a:ext cx="7156450" cy="6243321"/>
          </a:xfrm>
        </p:spPr>
        <p:txBody>
          <a:bodyPr/>
          <a:lstStyle>
            <a:lvl1pPr>
              <a:defRPr sz="39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2" y="1530775"/>
            <a:ext cx="4211638" cy="5003802"/>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E97BA02B-9B73-458F-B848-E99C8FA83242}" type="datetime1">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494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5120640"/>
            <a:ext cx="7680960" cy="604521"/>
          </a:xfrm>
        </p:spPr>
        <p:txBody>
          <a:bodyPr anchor="b"/>
          <a:lstStyle>
            <a:lvl1pPr algn="l">
              <a:defRPr sz="2500" b="1"/>
            </a:lvl1pPr>
          </a:lstStyle>
          <a:p>
            <a:r>
              <a:rPr lang="en-US"/>
              <a:t>Click to edit Master title style</a:t>
            </a:r>
          </a:p>
        </p:txBody>
      </p:sp>
      <p:sp>
        <p:nvSpPr>
          <p:cNvPr id="3" name="Picture Placeholder 2"/>
          <p:cNvSpPr>
            <a:spLocks noGrp="1"/>
          </p:cNvSpPr>
          <p:nvPr>
            <p:ph type="pic" idx="1"/>
          </p:nvPr>
        </p:nvSpPr>
        <p:spPr>
          <a:xfrm>
            <a:off x="2509203" y="653626"/>
            <a:ext cx="7680960" cy="4389120"/>
          </a:xfrm>
        </p:spPr>
        <p:txBody>
          <a:bodyPr/>
          <a:lstStyle>
            <a:lvl1pPr marL="0" indent="0">
              <a:buNone/>
              <a:defRPr sz="3900"/>
            </a:lvl1pPr>
            <a:lvl2pPr marL="574724" indent="0">
              <a:buNone/>
              <a:defRPr sz="3500"/>
            </a:lvl2pPr>
            <a:lvl3pPr marL="1149448" indent="0">
              <a:buNone/>
              <a:defRPr sz="3000"/>
            </a:lvl3pPr>
            <a:lvl4pPr marL="1724172" indent="0">
              <a:buNone/>
              <a:defRPr sz="2500"/>
            </a:lvl4pPr>
            <a:lvl5pPr marL="2298895" indent="0">
              <a:buNone/>
              <a:defRPr sz="2500"/>
            </a:lvl5pPr>
            <a:lvl6pPr marL="2873621" indent="0">
              <a:buNone/>
              <a:defRPr sz="2500"/>
            </a:lvl6pPr>
            <a:lvl7pPr marL="3448344" indent="0">
              <a:buNone/>
              <a:defRPr sz="2500"/>
            </a:lvl7pPr>
            <a:lvl8pPr marL="4023069" indent="0">
              <a:buNone/>
              <a:defRPr sz="2500"/>
            </a:lvl8pPr>
            <a:lvl9pPr marL="4597793" indent="0">
              <a:buNone/>
              <a:defRPr sz="2500"/>
            </a:lvl9pPr>
          </a:lstStyle>
          <a:p>
            <a:endParaRPr lang="en-US"/>
          </a:p>
        </p:txBody>
      </p:sp>
      <p:sp>
        <p:nvSpPr>
          <p:cNvPr id="4" name="Text Placeholder 3"/>
          <p:cNvSpPr>
            <a:spLocks noGrp="1"/>
          </p:cNvSpPr>
          <p:nvPr>
            <p:ph type="body" sz="half" idx="2"/>
          </p:nvPr>
        </p:nvSpPr>
        <p:spPr>
          <a:xfrm>
            <a:off x="2509203" y="5725161"/>
            <a:ext cx="7680960" cy="858519"/>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3752997-1B9E-4EF2-B260-9EB38D81F553}" type="datetime1">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31600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1370E5-7D69-44CE-AE73-71BFC3B68EE4}" type="datetime1">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3209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92948"/>
            <a:ext cx="288036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292948"/>
            <a:ext cx="842772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FF8B80-F83C-48AA-AA3F-63D37C1606D6}" type="datetime1">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011135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92946"/>
            <a:ext cx="11521440" cy="1219200"/>
          </a:xfrm>
          <a:prstGeom prst="rect">
            <a:avLst/>
          </a:prstGeom>
        </p:spPr>
        <p:txBody>
          <a:bodyPr vert="horz" lIns="114945" tIns="57473" rIns="114945" bIns="57473" rtlCol="0" anchor="ctr">
            <a:normAutofit/>
          </a:bodyPr>
          <a:lstStyle/>
          <a:p>
            <a:r>
              <a:rPr lang="en-US"/>
              <a:t>Click to edit Master title style</a:t>
            </a:r>
          </a:p>
        </p:txBody>
      </p:sp>
      <p:sp>
        <p:nvSpPr>
          <p:cNvPr id="3" name="Text Placeholder 2"/>
          <p:cNvSpPr>
            <a:spLocks noGrp="1"/>
          </p:cNvSpPr>
          <p:nvPr>
            <p:ph type="body" idx="1"/>
          </p:nvPr>
        </p:nvSpPr>
        <p:spPr>
          <a:xfrm>
            <a:off x="640080" y="1706880"/>
            <a:ext cx="11521440" cy="4827694"/>
          </a:xfrm>
          <a:prstGeom prst="rect">
            <a:avLst/>
          </a:prstGeom>
        </p:spPr>
        <p:txBody>
          <a:bodyPr vert="horz" lIns="114945" tIns="57473" rIns="114945" bIns="5747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6780107"/>
            <a:ext cx="2987040" cy="389467"/>
          </a:xfrm>
          <a:prstGeom prst="rect">
            <a:avLst/>
          </a:prstGeom>
        </p:spPr>
        <p:txBody>
          <a:bodyPr vert="horz" lIns="114945" tIns="57473" rIns="114945" bIns="57473" rtlCol="0" anchor="ctr"/>
          <a:lstStyle>
            <a:lvl1pPr algn="l">
              <a:defRPr sz="1500">
                <a:solidFill>
                  <a:schemeClr val="tx1">
                    <a:tint val="75000"/>
                  </a:schemeClr>
                </a:solidFill>
              </a:defRPr>
            </a:lvl1pPr>
          </a:lstStyle>
          <a:p>
            <a:fld id="{0E5C8E2D-1657-4F9E-9BA7-8881C66FCBC2}" type="datetime1">
              <a:rPr lang="en-US" smtClean="0"/>
              <a:t>4/5/2026</a:t>
            </a:fld>
            <a:endParaRPr lang="en-US"/>
          </a:p>
        </p:txBody>
      </p:sp>
      <p:sp>
        <p:nvSpPr>
          <p:cNvPr id="5" name="Footer Placeholder 4"/>
          <p:cNvSpPr>
            <a:spLocks noGrp="1"/>
          </p:cNvSpPr>
          <p:nvPr>
            <p:ph type="ftr" sz="quarter" idx="3"/>
          </p:nvPr>
        </p:nvSpPr>
        <p:spPr>
          <a:xfrm>
            <a:off x="4373880" y="6780107"/>
            <a:ext cx="4053840" cy="389467"/>
          </a:xfrm>
          <a:prstGeom prst="rect">
            <a:avLst/>
          </a:prstGeom>
        </p:spPr>
        <p:txBody>
          <a:bodyPr vert="horz" lIns="114945" tIns="57473" rIns="114945" bIns="57473"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6780107"/>
            <a:ext cx="2987040" cy="389467"/>
          </a:xfrm>
          <a:prstGeom prst="rect">
            <a:avLst/>
          </a:prstGeom>
        </p:spPr>
        <p:txBody>
          <a:bodyPr vert="horz" lIns="114945" tIns="57473" rIns="114945" bIns="57473" rtlCol="0" anchor="ctr"/>
          <a:lstStyle>
            <a:lvl1pPr algn="r">
              <a:defRPr sz="1500">
                <a:solidFill>
                  <a:schemeClr val="tx1">
                    <a:tint val="75000"/>
                  </a:schemeClr>
                </a:solidFill>
              </a:defRPr>
            </a:lvl1pPr>
          </a:lstStyle>
          <a:p>
            <a:fld id="{C02A2637-A5A3-49FA-B214-6E67543099EF}" type="slidenum">
              <a:rPr lang="en-US" smtClean="0"/>
              <a:t>‹#›</a:t>
            </a:fld>
            <a:endParaRPr lang="en-US"/>
          </a:p>
        </p:txBody>
      </p:sp>
    </p:spTree>
    <p:extLst>
      <p:ext uri="{BB962C8B-B14F-4D97-AF65-F5344CB8AC3E}">
        <p14:creationId xmlns:p14="http://schemas.microsoft.com/office/powerpoint/2010/main" val="641038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1149448" rtl="0" eaLnBrk="1" latinLnBrk="0" hangingPunct="1">
        <a:spcBef>
          <a:spcPct val="0"/>
        </a:spcBef>
        <a:buNone/>
        <a:defRPr sz="5500" kern="1200">
          <a:solidFill>
            <a:schemeClr val="tx1"/>
          </a:solidFill>
          <a:latin typeface="+mj-lt"/>
          <a:ea typeface="+mj-ea"/>
          <a:cs typeface="+mj-cs"/>
        </a:defRPr>
      </a:lvl1pPr>
    </p:titleStyle>
    <p:body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801600" cy="1893147"/>
          </a:xfrm>
          <a:solidFill>
            <a:schemeClr val="tx2">
              <a:lumMod val="60000"/>
              <a:lumOff val="40000"/>
            </a:schemeClr>
          </a:solidFill>
        </p:spPr>
        <p:txBody>
          <a:bodyPr>
            <a:noAutofit/>
          </a:bodyPr>
          <a:lstStyle/>
          <a:p>
            <a:r>
              <a:rPr lang="en-GB" sz="3900" dirty="0">
                <a:solidFill>
                  <a:schemeClr val="bg1"/>
                </a:solidFill>
                <a:latin typeface="Times New Roman" panose="02020603050405020304" pitchFamily="18" charset="0"/>
                <a:cs typeface="Times New Roman" panose="02020603050405020304" pitchFamily="18" charset="0"/>
              </a:rPr>
              <a:t>Design and Development of an AI-Powered Legal Assistant for Child Protection and Rights Awareness</a:t>
            </a:r>
            <a:endParaRPr lang="en-US" sz="3900" b="1" dirty="0">
              <a:solidFill>
                <a:schemeClr val="bg1"/>
              </a:solidFill>
              <a:latin typeface="Times New Roman" panose="02020603050405020304" pitchFamily="18" charset="0"/>
              <a:cs typeface="Times New Roman" pitchFamily="18" charset="0"/>
            </a:endParaRPr>
          </a:p>
        </p:txBody>
      </p:sp>
      <p:sp>
        <p:nvSpPr>
          <p:cNvPr id="3" name="Subtitle 2"/>
          <p:cNvSpPr>
            <a:spLocks noGrp="1"/>
          </p:cNvSpPr>
          <p:nvPr>
            <p:ph type="subTitle" idx="1"/>
          </p:nvPr>
        </p:nvSpPr>
        <p:spPr>
          <a:xfrm>
            <a:off x="2026920" y="3088640"/>
            <a:ext cx="8961120" cy="3982720"/>
          </a:xfrm>
        </p:spPr>
        <p:txBody>
          <a:bodyPr>
            <a:normAutofit fontScale="47500" lnSpcReduction="20000"/>
          </a:bodyPr>
          <a:lstStyle/>
          <a:p>
            <a:r>
              <a:rPr lang="en-US" sz="4400" dirty="0" err="1">
                <a:solidFill>
                  <a:schemeClr val="accent1">
                    <a:lumMod val="50000"/>
                  </a:schemeClr>
                </a:solidFill>
                <a:latin typeface="Times New Roman" pitchFamily="18" charset="0"/>
                <a:cs typeface="Times New Roman" pitchFamily="18" charset="0"/>
              </a:rPr>
              <a:t>M.Tech</a:t>
            </a:r>
            <a:r>
              <a:rPr lang="en-US" sz="4400" dirty="0">
                <a:solidFill>
                  <a:schemeClr val="accent1">
                    <a:lumMod val="50000"/>
                  </a:schemeClr>
                </a:solidFill>
                <a:latin typeface="Times New Roman" pitchFamily="18" charset="0"/>
                <a:cs typeface="Times New Roman" pitchFamily="18" charset="0"/>
              </a:rPr>
              <a:t> Project Work Review-II </a:t>
            </a:r>
          </a:p>
          <a:p>
            <a:r>
              <a:rPr lang="en-US" sz="4400" dirty="0">
                <a:solidFill>
                  <a:schemeClr val="accent1">
                    <a:lumMod val="50000"/>
                  </a:schemeClr>
                </a:solidFill>
                <a:latin typeface="Times New Roman" pitchFamily="18" charset="0"/>
                <a:cs typeface="Times New Roman" pitchFamily="18" charset="0"/>
              </a:rPr>
              <a:t>Presented by</a:t>
            </a:r>
          </a:p>
          <a:p>
            <a:endParaRPr lang="en-US" sz="4400" dirty="0">
              <a:solidFill>
                <a:schemeClr val="accent1">
                  <a:lumMod val="50000"/>
                </a:schemeClr>
              </a:solidFill>
              <a:latin typeface="Times New Roman" pitchFamily="18" charset="0"/>
              <a:cs typeface="Times New Roman" pitchFamily="18" charset="0"/>
            </a:endParaRPr>
          </a:p>
          <a:p>
            <a:r>
              <a:rPr lang="en-US" sz="4400" dirty="0">
                <a:solidFill>
                  <a:schemeClr val="accent1">
                    <a:lumMod val="50000"/>
                  </a:schemeClr>
                </a:solidFill>
                <a:latin typeface="Times New Roman" pitchFamily="18" charset="0"/>
                <a:cs typeface="Times New Roman" pitchFamily="18" charset="0"/>
              </a:rPr>
              <a:t>ARJUN V P(25MML1013)</a:t>
            </a:r>
          </a:p>
          <a:p>
            <a:r>
              <a:rPr lang="en-US" sz="4400" dirty="0" err="1">
                <a:solidFill>
                  <a:schemeClr val="accent1">
                    <a:lumMod val="50000"/>
                  </a:schemeClr>
                </a:solidFill>
                <a:latin typeface="Times New Roman" pitchFamily="18" charset="0"/>
                <a:cs typeface="Times New Roman" pitchFamily="18" charset="0"/>
              </a:rPr>
              <a:t>M.Tech</a:t>
            </a:r>
            <a:r>
              <a:rPr lang="en-US" sz="4400" dirty="0">
                <a:solidFill>
                  <a:schemeClr val="accent1">
                    <a:lumMod val="50000"/>
                  </a:schemeClr>
                </a:solidFill>
                <a:latin typeface="Times New Roman" pitchFamily="18" charset="0"/>
                <a:cs typeface="Times New Roman" pitchFamily="18" charset="0"/>
              </a:rPr>
              <a:t> Artificial Intelligence &amp; Machine Learning</a:t>
            </a:r>
          </a:p>
          <a:p>
            <a:endParaRPr lang="en-US" sz="4400" dirty="0">
              <a:solidFill>
                <a:schemeClr val="accent1">
                  <a:lumMod val="50000"/>
                </a:schemeClr>
              </a:solidFill>
              <a:latin typeface="Times New Roman" pitchFamily="18" charset="0"/>
              <a:cs typeface="Times New Roman" pitchFamily="18" charset="0"/>
            </a:endParaRPr>
          </a:p>
          <a:p>
            <a:endParaRPr lang="en-US" sz="4400" dirty="0">
              <a:solidFill>
                <a:schemeClr val="accent1">
                  <a:lumMod val="50000"/>
                </a:schemeClr>
              </a:solidFill>
              <a:latin typeface="Times New Roman" pitchFamily="18" charset="0"/>
              <a:cs typeface="Times New Roman" pitchFamily="18" charset="0"/>
            </a:endParaRPr>
          </a:p>
          <a:p>
            <a:r>
              <a:rPr lang="en-US" sz="4400" dirty="0">
                <a:solidFill>
                  <a:schemeClr val="accent1">
                    <a:lumMod val="50000"/>
                  </a:schemeClr>
                </a:solidFill>
                <a:latin typeface="Times New Roman" pitchFamily="18" charset="0"/>
                <a:cs typeface="Times New Roman" pitchFamily="18" charset="0"/>
              </a:rPr>
              <a:t>Under the Guidance of</a:t>
            </a:r>
          </a:p>
          <a:p>
            <a:r>
              <a:rPr lang="en-US" sz="4400" dirty="0">
                <a:solidFill>
                  <a:schemeClr val="accent1">
                    <a:lumMod val="50000"/>
                  </a:schemeClr>
                </a:solidFill>
                <a:latin typeface="Times New Roman" pitchFamily="18" charset="0"/>
                <a:cs typeface="Times New Roman" pitchFamily="18" charset="0"/>
              </a:rPr>
              <a:t>S.A.SAJIDHA(50063)</a:t>
            </a:r>
          </a:p>
          <a:p>
            <a:r>
              <a:rPr lang="en-US" sz="4400" dirty="0">
                <a:solidFill>
                  <a:schemeClr val="accent1">
                    <a:lumMod val="50000"/>
                  </a:schemeClr>
                </a:solidFill>
                <a:latin typeface="Times New Roman" pitchFamily="18" charset="0"/>
                <a:cs typeface="Times New Roman" pitchFamily="18" charset="0"/>
              </a:rPr>
              <a:t>Associate Professor</a:t>
            </a:r>
          </a:p>
          <a:p>
            <a:r>
              <a:rPr lang="en-US" sz="4400" dirty="0">
                <a:solidFill>
                  <a:schemeClr val="accent1">
                    <a:lumMod val="50000"/>
                  </a:schemeClr>
                </a:solidFill>
                <a:latin typeface="Times New Roman" pitchFamily="18" charset="0"/>
                <a:cs typeface="Times New Roman" pitchFamily="18" charset="0"/>
              </a:rPr>
              <a:t>School of Computer Science and Engineering</a:t>
            </a:r>
          </a:p>
          <a:p>
            <a:r>
              <a:rPr lang="en-US" sz="4400" dirty="0">
                <a:solidFill>
                  <a:schemeClr val="accent1">
                    <a:lumMod val="50000"/>
                  </a:schemeClr>
                </a:solidFill>
                <a:latin typeface="Times New Roman" pitchFamily="18" charset="0"/>
                <a:cs typeface="Times New Roman" pitchFamily="18" charset="0"/>
              </a:rPr>
              <a:t>Vellore Institute of Technology, Chennai</a:t>
            </a:r>
            <a:r>
              <a:rPr lang="en-US" dirty="0"/>
              <a:t>.</a:t>
            </a:r>
          </a:p>
          <a:p>
            <a:endParaRPr lang="en-US" dirty="0"/>
          </a:p>
        </p:txBody>
      </p:sp>
      <p:pic>
        <p:nvPicPr>
          <p:cNvPr id="4" name="image2.png">
            <a:extLst>
              <a:ext uri="{FF2B5EF4-FFF2-40B4-BE49-F238E27FC236}">
                <a16:creationId xmlns:a16="http://schemas.microsoft.com/office/drawing/2014/main" id="{22B46767-127D-ED42-E12D-499907980F7E}"/>
              </a:ext>
            </a:extLst>
          </p:cNvPr>
          <p:cNvPicPr/>
          <p:nvPr/>
        </p:nvPicPr>
        <p:blipFill>
          <a:blip r:embed="rId2"/>
          <a:srcRect/>
          <a:stretch>
            <a:fillRect/>
          </a:stretch>
        </p:blipFill>
        <p:spPr>
          <a:xfrm>
            <a:off x="4359910" y="1981200"/>
            <a:ext cx="4081780" cy="1165225"/>
          </a:xfrm>
          <a:prstGeom prst="rect">
            <a:avLst/>
          </a:prstGeom>
          <a:ln/>
        </p:spPr>
      </p:pic>
    </p:spTree>
    <p:extLst>
      <p:ext uri="{BB962C8B-B14F-4D97-AF65-F5344CB8AC3E}">
        <p14:creationId xmlns:p14="http://schemas.microsoft.com/office/powerpoint/2010/main" val="1895287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02A2637-A5A3-49FA-B214-6E67543099EF}" type="slidenum">
              <a:rPr lang="en-US" smtClean="0"/>
              <a:t>2</a:t>
            </a:fld>
            <a:endParaRPr lang="en-US" dirty="0"/>
          </a:p>
        </p:txBody>
      </p:sp>
      <p:sp>
        <p:nvSpPr>
          <p:cNvPr id="14" name="Title 1"/>
          <p:cNvSpPr>
            <a:spLocks noGrp="1"/>
          </p:cNvSpPr>
          <p:nvPr>
            <p:ph type="title"/>
          </p:nvPr>
        </p:nvSpPr>
        <p:spPr>
          <a:xfrm>
            <a:off x="0" y="0"/>
            <a:ext cx="12801600" cy="1512146"/>
          </a:xfrm>
          <a:solidFill>
            <a:schemeClr val="tx2">
              <a:lumMod val="60000"/>
              <a:lumOff val="40000"/>
            </a:schemeClr>
          </a:solidFill>
        </p:spPr>
        <p:txBody>
          <a:bodyPr/>
          <a:lstStyle/>
          <a:p>
            <a:r>
              <a:rPr lang="en-US" sz="3700" b="1" dirty="0">
                <a:solidFill>
                  <a:schemeClr val="bg1"/>
                </a:solidFill>
                <a:latin typeface="Times New Roman" pitchFamily="18" charset="0"/>
                <a:cs typeface="Times New Roman" pitchFamily="18" charset="0"/>
              </a:rPr>
              <a:t>CONTENTS</a:t>
            </a:r>
          </a:p>
        </p:txBody>
      </p:sp>
      <p:sp>
        <p:nvSpPr>
          <p:cNvPr id="5" name="Content Placeholder 2"/>
          <p:cNvSpPr txBox="1">
            <a:spLocks/>
          </p:cNvSpPr>
          <p:nvPr/>
        </p:nvSpPr>
        <p:spPr>
          <a:xfrm>
            <a:off x="640080" y="1706880"/>
            <a:ext cx="11521440" cy="4827694"/>
          </a:xfrm>
          <a:prstGeom prst="rect">
            <a:avLst/>
          </a:prstGeom>
        </p:spPr>
        <p:txBody>
          <a:bodyPr vert="horz" lIns="114945" tIns="57473" rIns="114945" bIns="57473" rtlCol="0">
            <a:normAutofit fontScale="85000" lnSpcReduction="20000"/>
          </a:bodyPr>
          <a:lst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a:lstStyle>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ABSTRACT</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INTRODUCTION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LITERATURE SURVEY</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RESEARCH GAPS </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OBJECTIVES</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MODULE IDENTIFICATION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SYSTEM ARCHITECTURE</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DEVELOPMENT &amp; INTEGRATION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PROTOTYPE / RESEARCH FRAMEWORK</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OUTCOME</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RESULTS</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TIMELINE / GANTT CHART</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490154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1.ABSTRACT</a:t>
            </a:r>
          </a:p>
        </p:txBody>
      </p:sp>
      <p:sp>
        <p:nvSpPr>
          <p:cNvPr id="3" name="Content Placeholder 2"/>
          <p:cNvSpPr>
            <a:spLocks noGrp="1"/>
          </p:cNvSpPr>
          <p:nvPr>
            <p:ph idx="1"/>
          </p:nvPr>
        </p:nvSpPr>
        <p:spPr/>
        <p:txBody>
          <a:bodyPr>
            <a:noAutofit/>
          </a:bodyPr>
          <a:lstStyle/>
          <a:p>
            <a:pPr marL="0" indent="0">
              <a:buNone/>
            </a:pPr>
            <a:r>
              <a:rPr lang="en-GB" sz="2100" dirty="0">
                <a:latin typeface="Times New Roman" panose="02020603050405020304" pitchFamily="18" charset="0"/>
                <a:cs typeface="Times New Roman" panose="02020603050405020304" pitchFamily="18" charset="0"/>
              </a:rPr>
              <a:t>This project proposes the </a:t>
            </a:r>
            <a:r>
              <a:rPr lang="en-GB" sz="2100" b="1" dirty="0">
                <a:latin typeface="Times New Roman" panose="02020603050405020304" pitchFamily="18" charset="0"/>
                <a:cs typeface="Times New Roman" panose="02020603050405020304" pitchFamily="18" charset="0"/>
              </a:rPr>
              <a:t>Design and Development of an AI-Powered Legal Assistant for Child Protection and Rights Awareness</a:t>
            </a:r>
            <a:r>
              <a:rPr lang="en-GB" sz="2100" dirty="0">
                <a:latin typeface="Times New Roman" panose="02020603050405020304" pitchFamily="18" charset="0"/>
                <a:cs typeface="Times New Roman" panose="02020603050405020304" pitchFamily="18" charset="0"/>
              </a:rPr>
              <a:t>, addressing major gaps identified in existing literature.</a:t>
            </a:r>
          </a:p>
          <a:p>
            <a:r>
              <a:rPr lang="en-GB" sz="2100" dirty="0">
                <a:latin typeface="Times New Roman" panose="02020603050405020304" pitchFamily="18" charset="0"/>
                <a:cs typeface="Times New Roman" panose="02020603050405020304" pitchFamily="18" charset="0"/>
              </a:rPr>
              <a:t>It first highlights the </a:t>
            </a:r>
            <a:r>
              <a:rPr lang="en-GB" sz="2100" b="1" dirty="0">
                <a:latin typeface="Times New Roman" panose="02020603050405020304" pitchFamily="18" charset="0"/>
                <a:cs typeface="Times New Roman" panose="02020603050405020304" pitchFamily="18" charset="0"/>
              </a:rPr>
              <a:t>geographical and topical gap</a:t>
            </a:r>
            <a:r>
              <a:rPr lang="en-GB" sz="2100" dirty="0">
                <a:latin typeface="Times New Roman" panose="02020603050405020304" pitchFamily="18" charset="0"/>
                <a:cs typeface="Times New Roman" panose="02020603050405020304" pitchFamily="18" charset="0"/>
              </a:rPr>
              <a:t>, where limited research focuses on state-specific legal frameworks (e.g., Kerala, Tamil Nadu) and specialized areas like child laws. The project explores </a:t>
            </a:r>
            <a:r>
              <a:rPr lang="en-GB" sz="2100" b="1" dirty="0">
                <a:latin typeface="Times New Roman" panose="02020603050405020304" pitchFamily="18" charset="0"/>
                <a:cs typeface="Times New Roman" panose="02020603050405020304" pitchFamily="18" charset="0"/>
              </a:rPr>
              <a:t>domain-specific fine-tuning</a:t>
            </a:r>
            <a:r>
              <a:rPr lang="en-GB" sz="2100" dirty="0">
                <a:latin typeface="Times New Roman" panose="02020603050405020304" pitchFamily="18" charset="0"/>
                <a:cs typeface="Times New Roman" panose="02020603050405020304" pitchFamily="18" charset="0"/>
              </a:rPr>
              <a:t> of language models as a potential solution to ensure contextual and regional accuracy.</a:t>
            </a:r>
          </a:p>
          <a:p>
            <a:r>
              <a:rPr lang="en-GB" sz="2100" dirty="0">
                <a:latin typeface="Times New Roman" panose="02020603050405020304" pitchFamily="18" charset="0"/>
                <a:cs typeface="Times New Roman" panose="02020603050405020304" pitchFamily="18" charset="0"/>
              </a:rPr>
              <a:t>To mitigate the </a:t>
            </a:r>
            <a:r>
              <a:rPr lang="en-GB" sz="2100" b="1" dirty="0">
                <a:latin typeface="Times New Roman" panose="02020603050405020304" pitchFamily="18" charset="0"/>
                <a:cs typeface="Times New Roman" panose="02020603050405020304" pitchFamily="18" charset="0"/>
              </a:rPr>
              <a:t>conceptual gap of AI hallucination</a:t>
            </a:r>
            <a:r>
              <a:rPr lang="en-GB" sz="2100" dirty="0">
                <a:latin typeface="Times New Roman" panose="02020603050405020304" pitchFamily="18" charset="0"/>
                <a:cs typeface="Times New Roman" panose="02020603050405020304" pitchFamily="18" charset="0"/>
              </a:rPr>
              <a:t>, the system aims to integrate </a:t>
            </a:r>
            <a:r>
              <a:rPr lang="en-GB" sz="2100" b="1" dirty="0">
                <a:latin typeface="Times New Roman" panose="02020603050405020304" pitchFamily="18" charset="0"/>
                <a:cs typeface="Times New Roman" panose="02020603050405020304" pitchFamily="18" charset="0"/>
              </a:rPr>
              <a:t>Retrieval-Augmented Generation (RAG)</a:t>
            </a:r>
            <a:r>
              <a:rPr lang="en-GB" sz="2100" dirty="0">
                <a:latin typeface="Times New Roman" panose="02020603050405020304" pitchFamily="18" charset="0"/>
                <a:cs typeface="Times New Roman" panose="02020603050405020304" pitchFamily="18" charset="0"/>
              </a:rPr>
              <a:t> supported by </a:t>
            </a:r>
            <a:r>
              <a:rPr lang="en-GB" sz="2100" b="1" dirty="0">
                <a:latin typeface="Times New Roman" panose="02020603050405020304" pitchFamily="18" charset="0"/>
                <a:cs typeface="Times New Roman" panose="02020603050405020304" pitchFamily="18" charset="0"/>
              </a:rPr>
              <a:t>Dense Passage Retrieval (DPR)</a:t>
            </a:r>
            <a:r>
              <a:rPr lang="en-GB" sz="2100" dirty="0">
                <a:latin typeface="Times New Roman" panose="02020603050405020304" pitchFamily="18" charset="0"/>
                <a:cs typeface="Times New Roman" panose="02020603050405020304" pitchFamily="18" charset="0"/>
              </a:rPr>
              <a:t> for factual grounding — leveraging verified external knowledge to reduce misinformation.</a:t>
            </a:r>
          </a:p>
          <a:p>
            <a:r>
              <a:rPr lang="en-GB" sz="2100" dirty="0">
                <a:latin typeface="Times New Roman" panose="02020603050405020304" pitchFamily="18" charset="0"/>
                <a:cs typeface="Times New Roman" panose="02020603050405020304" pitchFamily="18" charset="0"/>
              </a:rPr>
              <a:t>Finally, to improve </a:t>
            </a:r>
            <a:r>
              <a:rPr lang="en-GB" sz="2100" b="1" dirty="0">
                <a:latin typeface="Times New Roman" panose="02020603050405020304" pitchFamily="18" charset="0"/>
                <a:cs typeface="Times New Roman" panose="02020603050405020304" pitchFamily="18" charset="0"/>
              </a:rPr>
              <a:t>methodological reliability</a:t>
            </a:r>
            <a:r>
              <a:rPr lang="en-GB" sz="2100" dirty="0">
                <a:latin typeface="Times New Roman" panose="02020603050405020304" pitchFamily="18" charset="0"/>
                <a:cs typeface="Times New Roman" panose="02020603050405020304" pitchFamily="18" charset="0"/>
              </a:rPr>
              <a:t>, the work emphasizes the use of </a:t>
            </a:r>
            <a:r>
              <a:rPr lang="en-GB" sz="2100" b="1" dirty="0">
                <a:latin typeface="Times New Roman" panose="02020603050405020304" pitchFamily="18" charset="0"/>
                <a:cs typeface="Times New Roman" panose="02020603050405020304" pitchFamily="18" charset="0"/>
              </a:rPr>
              <a:t>quantitative and transparent evaluation metrics</a:t>
            </a:r>
            <a:r>
              <a:rPr lang="en-GB" sz="2100" dirty="0">
                <a:latin typeface="Times New Roman" panose="02020603050405020304" pitchFamily="18" charset="0"/>
                <a:cs typeface="Times New Roman" panose="02020603050405020304" pitchFamily="18" charset="0"/>
              </a:rPr>
              <a:t> such as top-k retrieval accuracy and domain-level benchmarks (MMLU, </a:t>
            </a:r>
            <a:r>
              <a:rPr lang="en-GB" sz="2100" dirty="0" err="1">
                <a:latin typeface="Times New Roman" panose="02020603050405020304" pitchFamily="18" charset="0"/>
                <a:cs typeface="Times New Roman" panose="02020603050405020304" pitchFamily="18" charset="0"/>
              </a:rPr>
              <a:t>SQuAD</a:t>
            </a:r>
            <a:r>
              <a:rPr lang="en-GB" sz="2100" dirty="0">
                <a:latin typeface="Times New Roman" panose="02020603050405020304" pitchFamily="18" charset="0"/>
                <a:cs typeface="Times New Roman" panose="02020603050405020304" pitchFamily="18" charset="0"/>
              </a:rPr>
              <a:t>).</a:t>
            </a:r>
          </a:p>
          <a:p>
            <a:r>
              <a:rPr lang="en-GB" sz="2100" dirty="0">
                <a:latin typeface="Times New Roman" panose="02020603050405020304" pitchFamily="18" charset="0"/>
                <a:cs typeface="Times New Roman" panose="02020603050405020304" pitchFamily="18" charset="0"/>
              </a:rPr>
              <a:t>Together, these approaches offer a </a:t>
            </a:r>
            <a:r>
              <a:rPr lang="en-GB" sz="2100" b="1" dirty="0">
                <a:latin typeface="Times New Roman" panose="02020603050405020304" pitchFamily="18" charset="0"/>
                <a:cs typeface="Times New Roman" panose="02020603050405020304" pitchFamily="18" charset="0"/>
              </a:rPr>
              <a:t>hopeful direction</a:t>
            </a:r>
            <a:r>
              <a:rPr lang="en-GB" sz="2100" dirty="0">
                <a:latin typeface="Times New Roman" panose="02020603050405020304" pitchFamily="18" charset="0"/>
                <a:cs typeface="Times New Roman" panose="02020603050405020304" pitchFamily="18" charset="0"/>
              </a:rPr>
              <a:t> toward building a trustworthy, context-aware, and ethically responsible AI system that enhances legal assistance and promotes child protection awareness.</a:t>
            </a: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3</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86327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900" b="1" dirty="0">
                <a:solidFill>
                  <a:schemeClr val="bg1"/>
                </a:solidFill>
                <a:latin typeface="Times New Roman" pitchFamily="18" charset="0"/>
                <a:cs typeface="Times New Roman" pitchFamily="18" charset="0"/>
              </a:rPr>
              <a:t>2. INTRODUCTION</a:t>
            </a:r>
          </a:p>
        </p:txBody>
      </p:sp>
      <p:sp>
        <p:nvSpPr>
          <p:cNvPr id="3" name="Content Placeholder 2"/>
          <p:cNvSpPr>
            <a:spLocks noGrp="1"/>
          </p:cNvSpPr>
          <p:nvPr>
            <p:ph idx="1"/>
          </p:nvPr>
        </p:nvSpPr>
        <p:spPr/>
        <p:txBody>
          <a:bodyPr>
            <a:normAutofit fontScale="62500" lnSpcReduction="20000"/>
          </a:bodyPr>
          <a:lstStyle/>
          <a:p>
            <a:r>
              <a:rPr lang="en-GB" dirty="0">
                <a:latin typeface="Times New Roman" panose="02020603050405020304" pitchFamily="18" charset="0"/>
                <a:cs typeface="Times New Roman" panose="02020603050405020304" pitchFamily="18" charset="0"/>
              </a:rPr>
              <a:t>The intersection of artificial intelligence and legal systems has opened new possibilities for enhancing access to justice and legal awareness. However, current AI-based legal tools exhibit limitations in contextual adaptability, factual reliability, and domain specialization, particularly within </a:t>
            </a:r>
            <a:r>
              <a:rPr lang="en-GB" b="1" dirty="0">
                <a:latin typeface="Times New Roman" panose="02020603050405020304" pitchFamily="18" charset="0"/>
                <a:cs typeface="Times New Roman" panose="02020603050405020304" pitchFamily="18" charset="0"/>
              </a:rPr>
              <a:t>child protection and rights awareness frameworks</a:t>
            </a:r>
            <a:r>
              <a:rPr lang="en-GB" dirty="0">
                <a:latin typeface="Times New Roman" panose="02020603050405020304" pitchFamily="18" charset="0"/>
                <a:cs typeface="Times New Roman" panose="02020603050405020304" pitchFamily="18" charset="0"/>
              </a:rPr>
              <a:t>.</a:t>
            </a:r>
          </a:p>
          <a:p>
            <a:r>
              <a:rPr lang="en-GB" dirty="0">
                <a:latin typeface="Times New Roman" panose="02020603050405020304" pitchFamily="18" charset="0"/>
                <a:cs typeface="Times New Roman" panose="02020603050405020304" pitchFamily="18" charset="0"/>
              </a:rPr>
              <a:t>This project, titled </a:t>
            </a:r>
            <a:r>
              <a:rPr lang="en-GB" i="1" dirty="0">
                <a:latin typeface="Times New Roman" panose="02020603050405020304" pitchFamily="18" charset="0"/>
                <a:cs typeface="Times New Roman" panose="02020603050405020304" pitchFamily="18" charset="0"/>
              </a:rPr>
              <a:t>“Design and Development of an AI-Powered Legal Assistant for Child Protection and Rights Awareness,”</a:t>
            </a:r>
            <a:r>
              <a:rPr lang="en-GB" dirty="0">
                <a:latin typeface="Times New Roman" panose="02020603050405020304" pitchFamily="18" charset="0"/>
                <a:cs typeface="Times New Roman" panose="02020603050405020304" pitchFamily="18" charset="0"/>
              </a:rPr>
              <a:t> seeks to address these challenges by exploring the integration of </a:t>
            </a:r>
            <a:r>
              <a:rPr lang="en-GB" b="1" dirty="0">
                <a:latin typeface="Times New Roman" panose="02020603050405020304" pitchFamily="18" charset="0"/>
                <a:cs typeface="Times New Roman" panose="02020603050405020304" pitchFamily="18" charset="0"/>
              </a:rPr>
              <a:t>Large Language Models (LLMs)</a:t>
            </a:r>
            <a:r>
              <a:rPr lang="en-GB" dirty="0">
                <a:latin typeface="Times New Roman" panose="02020603050405020304" pitchFamily="18" charset="0"/>
                <a:cs typeface="Times New Roman" panose="02020603050405020304" pitchFamily="18" charset="0"/>
              </a:rPr>
              <a:t> with </a:t>
            </a:r>
            <a:r>
              <a:rPr lang="en-GB" b="1" dirty="0">
                <a:latin typeface="Times New Roman" panose="02020603050405020304" pitchFamily="18" charset="0"/>
                <a:cs typeface="Times New Roman" panose="02020603050405020304" pitchFamily="18" charset="0"/>
              </a:rPr>
              <a:t>Retrieval-Augmented Generation (RAG)</a:t>
            </a:r>
            <a:r>
              <a:rPr lang="en-GB" dirty="0">
                <a:latin typeface="Times New Roman" panose="02020603050405020304" pitchFamily="18" charset="0"/>
                <a:cs typeface="Times New Roman" panose="02020603050405020304" pitchFamily="18" charset="0"/>
              </a:rPr>
              <a:t> mechanisms. The focus extends to </a:t>
            </a:r>
            <a:r>
              <a:rPr lang="en-GB" b="1" dirty="0">
                <a:latin typeface="Times New Roman" panose="02020603050405020304" pitchFamily="18" charset="0"/>
                <a:cs typeface="Times New Roman" panose="02020603050405020304" pitchFamily="18" charset="0"/>
              </a:rPr>
              <a:t>state-specific legal frameworks</a:t>
            </a:r>
            <a:r>
              <a:rPr lang="en-GB" dirty="0">
                <a:latin typeface="Times New Roman" panose="02020603050405020304" pitchFamily="18" charset="0"/>
                <a:cs typeface="Times New Roman" panose="02020603050405020304" pitchFamily="18" charset="0"/>
              </a:rPr>
              <a:t>, such as those of </a:t>
            </a:r>
            <a:r>
              <a:rPr lang="en-GB" b="1" dirty="0">
                <a:latin typeface="Times New Roman" panose="02020603050405020304" pitchFamily="18" charset="0"/>
                <a:cs typeface="Times New Roman" panose="02020603050405020304" pitchFamily="18" charset="0"/>
              </a:rPr>
              <a:t>Kerala and Tamil Nadu</a:t>
            </a:r>
            <a:r>
              <a:rPr lang="en-GB" dirty="0">
                <a:latin typeface="Times New Roman" panose="02020603050405020304" pitchFamily="18" charset="0"/>
                <a:cs typeface="Times New Roman" panose="02020603050405020304" pitchFamily="18" charset="0"/>
              </a:rPr>
              <a:t>, which remain underrepresented in existing systems.</a:t>
            </a:r>
          </a:p>
          <a:p>
            <a:r>
              <a:rPr lang="en-GB" dirty="0">
                <a:latin typeface="Times New Roman" panose="02020603050405020304" pitchFamily="18" charset="0"/>
                <a:cs typeface="Times New Roman" panose="02020603050405020304" pitchFamily="18" charset="0"/>
              </a:rPr>
              <a:t>Through this approach, the study aims to contribute toward developing a </a:t>
            </a:r>
            <a:r>
              <a:rPr lang="en-GB" b="1" dirty="0">
                <a:latin typeface="Times New Roman" panose="02020603050405020304" pitchFamily="18" charset="0"/>
                <a:cs typeface="Times New Roman" panose="02020603050405020304" pitchFamily="18" charset="0"/>
              </a:rPr>
              <a:t>reliable, transparent, and regionally adaptive AI-driven legal assistant</a:t>
            </a:r>
            <a:r>
              <a:rPr lang="en-GB" dirty="0">
                <a:latin typeface="Times New Roman" panose="02020603050405020304" pitchFamily="18" charset="0"/>
                <a:cs typeface="Times New Roman" panose="02020603050405020304" pitchFamily="18" charset="0"/>
              </a:rPr>
              <a:t>, thereby supporting informed legal decision-making and strengthening child rights advocacy.</a:t>
            </a:r>
          </a:p>
          <a:p>
            <a:pPr marL="0" indent="0">
              <a:buNone/>
            </a:pPr>
            <a:endParaRPr lang="en-US" dirty="0"/>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4</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29978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3.LITERATURE SURVEY</a:t>
            </a:r>
          </a:p>
        </p:txBody>
      </p:sp>
      <p:graphicFrame>
        <p:nvGraphicFramePr>
          <p:cNvPr id="5" name="Content Placeholder 5"/>
          <p:cNvGraphicFramePr>
            <a:graphicFrameLocks/>
          </p:cNvGraphicFramePr>
          <p:nvPr/>
        </p:nvGraphicFramePr>
        <p:xfrm>
          <a:off x="685799" y="1669892"/>
          <a:ext cx="11475720" cy="4494688"/>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1</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Chatlaw</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A Multi-Agent Collaborative Legal Assistant with Knowledge Graph Enhanced Mixture-of-Experts Large Language Model</a:t>
                      </a:r>
                    </a:p>
                  </a:txBody>
                  <a:tcPr marL="7620" marR="7620" marT="7620" marB="0">
                    <a:solidFill>
                      <a:srgbClr val="C4E1F2"/>
                    </a:solidFill>
                  </a:tcPr>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Data Pre-processing, Constructing and Training </a:t>
                      </a: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MoE</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Model, Implementation of Multi-gent SOP, Performance Evaluation, CO2 Emission Estimation.</a:t>
                      </a:r>
                    </a:p>
                  </a:txBody>
                  <a:tcPr marL="7620" marR="7620" marT="7620" marB="0">
                    <a:solidFill>
                      <a:srgbClr val="C4E1F2"/>
                    </a:solidFill>
                  </a:tcPr>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Legal Benchmarks:</a:t>
                      </a:r>
                      <a:r>
                        <a:rPr lang="en-GB" sz="1200" dirty="0">
                          <a:latin typeface="Times New Roman" panose="02020603050405020304" pitchFamily="18" charset="0"/>
                          <a:cs typeface="Times New Roman" panose="02020603050405020304" pitchFamily="18" charset="0"/>
                        </a:rPr>
                        <a:t> Multi-agent collaboration improved real-case performance, high-quality data and </a:t>
                      </a:r>
                      <a:r>
                        <a:rPr lang="en-GB" sz="1200" dirty="0" err="1">
                          <a:latin typeface="Times New Roman" panose="02020603050405020304" pitchFamily="18" charset="0"/>
                          <a:cs typeface="Times New Roman" panose="02020603050405020304" pitchFamily="18" charset="0"/>
                        </a:rPr>
                        <a:t>MoE</a:t>
                      </a:r>
                      <a:r>
                        <a:rPr lang="en-GB" sz="1200" dirty="0">
                          <a:latin typeface="Times New Roman" panose="02020603050405020304" pitchFamily="18" charset="0"/>
                          <a:cs typeface="Times New Roman" panose="02020603050405020304" pitchFamily="18" charset="0"/>
                        </a:rPr>
                        <a:t> architecture further enhanced legal reasoning accuracy.</a:t>
                      </a:r>
                      <a:endParaRPr lang="en-US" sz="12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100" b="0" i="0" u="none" strike="noStrike" dirty="0">
                          <a:solidFill>
                            <a:srgbClr val="000000"/>
                          </a:solidFill>
                          <a:effectLst/>
                          <a:latin typeface="Times New Roman" panose="02020603050405020304" pitchFamily="18" charset="0"/>
                          <a:cs typeface="Times New Roman" panose="02020603050405020304" pitchFamily="18" charset="0"/>
                        </a:rPr>
                        <a:t>Geographical limitation: tested for Chinese law bench only, possible Conceptual and Idea Gap: undetermined due to undisclosed data, possibly inaccurate input data, generalized use case.</a:t>
                      </a:r>
                    </a:p>
                  </a:txBody>
                  <a:tcPr marL="7620" marR="7620" marT="7620" marB="0">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2</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LegalAsst</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Human-</a:t>
                      </a: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centered</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and AI-empowered machine to enhance court productivity and legal assistance</a:t>
                      </a:r>
                    </a:p>
                  </a:txBody>
                  <a:tcPr marL="7620" marR="7620" marT="7620" marB="0"/>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Case Analysis Module, Legislation Analysis Module, Judicial Decision-making Module, Anonymization of Private Sata Module.</a:t>
                      </a:r>
                    </a:p>
                  </a:txBody>
                  <a:tcPr marL="7620" marR="7620" marT="7620" marB="0"/>
                </a:tc>
                <a:tc>
                  <a:txBody>
                    <a:bodyPr/>
                    <a:lstStyle/>
                    <a:p>
                      <a:pPr marL="0" marR="0" algn="l">
                        <a:lnSpc>
                          <a:spcPct val="115000"/>
                        </a:lnSpc>
                        <a:spcBef>
                          <a:spcPts val="0"/>
                        </a:spcBef>
                        <a:spcAft>
                          <a:spcPts val="0"/>
                        </a:spcAft>
                      </a:pPr>
                      <a:r>
                        <a:rPr lang="en-GB" sz="1200" b="1" dirty="0" err="1">
                          <a:latin typeface="Times New Roman" panose="02020603050405020304" pitchFamily="18" charset="0"/>
                          <a:cs typeface="Times New Roman" panose="02020603050405020304" pitchFamily="18" charset="0"/>
                        </a:rPr>
                        <a:t>LegalAsst</a:t>
                      </a:r>
                      <a:r>
                        <a:rPr lang="en-GB" sz="1200" b="1" dirty="0">
                          <a:latin typeface="Times New Roman" panose="02020603050405020304" pitchFamily="18" charset="0"/>
                          <a:cs typeface="Times New Roman" panose="02020603050405020304" pitchFamily="18" charset="0"/>
                        </a:rPr>
                        <a:t> Accuracy:</a:t>
                      </a:r>
                      <a:r>
                        <a:rPr lang="en-GB" sz="1200" dirty="0">
                          <a:latin typeface="Times New Roman" panose="02020603050405020304" pitchFamily="18" charset="0"/>
                          <a:cs typeface="Times New Roman" panose="02020603050405020304" pitchFamily="18" charset="0"/>
                        </a:rPr>
                        <a:t> Outperformed GPT-4 in case analysis, graph-based structure improved similarity detection and reduced contextual errors.</a:t>
                      </a:r>
                      <a:endParaRPr lang="en-US" sz="12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100" b="0" i="0" u="none" strike="noStrike" dirty="0">
                          <a:solidFill>
                            <a:srgbClr val="000000"/>
                          </a:solidFill>
                          <a:effectLst/>
                          <a:latin typeface="Times New Roman" panose="02020603050405020304" pitchFamily="18" charset="0"/>
                          <a:cs typeface="Times New Roman" panose="02020603050405020304" pitchFamily="18" charset="0"/>
                        </a:rPr>
                        <a:t>Ensuring user </a:t>
                      </a:r>
                      <a:r>
                        <a:rPr lang="en-GB" sz="1100" b="0" i="0" u="none" strike="noStrike" dirty="0" err="1">
                          <a:solidFill>
                            <a:srgbClr val="000000"/>
                          </a:solidFill>
                          <a:effectLst/>
                          <a:latin typeface="Times New Roman" panose="02020603050405020304" pitchFamily="18" charset="0"/>
                          <a:cs typeface="Times New Roman" panose="02020603050405020304" pitchFamily="18" charset="0"/>
                        </a:rPr>
                        <a:t>privacyand</a:t>
                      </a:r>
                      <a:r>
                        <a:rPr lang="en-GB" sz="1100" b="0" i="0" u="none" strike="noStrike" dirty="0">
                          <a:solidFill>
                            <a:srgbClr val="000000"/>
                          </a:solidFill>
                          <a:effectLst/>
                          <a:latin typeface="Times New Roman" panose="02020603050405020304" pitchFamily="18" charset="0"/>
                          <a:cs typeface="Times New Roman" panose="02020603050405020304" pitchFamily="18" charset="0"/>
                        </a:rPr>
                        <a:t> data security, Mitigating bias in training datasets, Promoting fairness in Judgements, Conforming to specific legal nuances.</a:t>
                      </a:r>
                    </a:p>
                  </a:txBody>
                  <a:tcPr marL="7620" marR="7620" marT="7620" marB="0"/>
                </a:tc>
                <a:extLst>
                  <a:ext uri="{0D108BD9-81ED-4DB2-BD59-A6C34878D82A}">
                    <a16:rowId xmlns:a16="http://schemas.microsoft.com/office/drawing/2014/main" val="10002"/>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3</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Bettercall</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AI based legal assistant</a:t>
                      </a:r>
                    </a:p>
                  </a:txBody>
                  <a:tcPr marL="7620" marR="7620" marT="762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Vectorization/Vector Embeddings, Cosine Similarity, Tokenization, Chunking, Ontology Database, Precision &amp; Recall Analysis, User Satisfaction Survey.</a:t>
                      </a:r>
                    </a:p>
                  </a:txBody>
                  <a:tcPr marL="7620" marR="7620" marT="7620" marB="0">
                    <a:solidFill>
                      <a:srgbClr val="C4E1F2"/>
                    </a:solidFill>
                  </a:tcPr>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Access to Justice:</a:t>
                      </a:r>
                      <a:r>
                        <a:rPr lang="en-GB" sz="1200" dirty="0">
                          <a:latin typeface="Times New Roman" panose="02020603050405020304" pitchFamily="18" charset="0"/>
                          <a:cs typeface="Times New Roman" panose="02020603050405020304" pitchFamily="18" charset="0"/>
                        </a:rPr>
                        <a:t> Chatbot achieved high precision and recall, scalable solution enhanced public accessibility to legal information.</a:t>
                      </a:r>
                      <a:endParaRPr lang="en-US" sz="12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100" b="0" i="0" u="none" strike="noStrike" dirty="0" err="1">
                          <a:solidFill>
                            <a:srgbClr val="000000"/>
                          </a:solidFill>
                          <a:effectLst/>
                          <a:latin typeface="Times New Roman" panose="02020603050405020304" pitchFamily="18" charset="0"/>
                          <a:cs typeface="Times New Roman" panose="02020603050405020304" pitchFamily="18" charset="0"/>
                        </a:rPr>
                        <a:t>Methodoligical</a:t>
                      </a:r>
                      <a:r>
                        <a:rPr lang="en-GB" sz="1100" b="0" i="0" u="none" strike="noStrike" dirty="0">
                          <a:solidFill>
                            <a:srgbClr val="000000"/>
                          </a:solidFill>
                          <a:effectLst/>
                          <a:latin typeface="Times New Roman" panose="02020603050405020304" pitchFamily="18" charset="0"/>
                          <a:cs typeface="Times New Roman" panose="02020603050405020304" pitchFamily="18" charset="0"/>
                        </a:rPr>
                        <a:t> limitation: The performance tests conducted are inefficient or skewed hence </a:t>
                      </a:r>
                      <a:r>
                        <a:rPr lang="en-GB" sz="1100" b="0" i="0" u="none" strike="noStrike" dirty="0" err="1">
                          <a:solidFill>
                            <a:srgbClr val="000000"/>
                          </a:solidFill>
                          <a:effectLst/>
                          <a:latin typeface="Times New Roman" panose="02020603050405020304" pitchFamily="18" charset="0"/>
                          <a:cs typeface="Times New Roman" panose="02020603050405020304" pitchFamily="18" charset="0"/>
                        </a:rPr>
                        <a:t>unrelaible</a:t>
                      </a:r>
                      <a:r>
                        <a:rPr lang="en-GB" sz="1100" b="0" i="0" u="none" strike="noStrike" dirty="0">
                          <a:solidFill>
                            <a:srgbClr val="000000"/>
                          </a:solidFill>
                          <a:effectLst/>
                          <a:latin typeface="Times New Roman" panose="02020603050405020304" pitchFamily="18" charset="0"/>
                          <a:cs typeface="Times New Roman" panose="02020603050405020304" pitchFamily="18" charset="0"/>
                        </a:rPr>
                        <a:t>, Generalized use case(not specialized on a particular subset of legal cases), Geographical limitation(each state has particular nuances).</a:t>
                      </a:r>
                    </a:p>
                  </a:txBody>
                  <a:tcPr marL="7620" marR="7620" marT="7620" marB="0">
                    <a:solidFill>
                      <a:srgbClr val="C4E1F2"/>
                    </a:solidFill>
                  </a:tcPr>
                </a:tc>
                <a:extLst>
                  <a:ext uri="{0D108BD9-81ED-4DB2-BD59-A6C34878D82A}">
                    <a16:rowId xmlns:a16="http://schemas.microsoft.com/office/drawing/2014/main" val="10003"/>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4</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Aura: An AI-Powered Legal Assistant for Enhancing Access to Justice in the UK Legal System</a:t>
                      </a:r>
                    </a:p>
                  </a:txBody>
                  <a:tcPr marL="7620" marR="7620" marT="7620" marB="0"/>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NLP, ML, LLM, Named Entity Recognition (NER), Dependency Parsing, Semantic Similarity Scoring/Vector Retrieval, Vector Embeddings, Retrieval-Augmented Generation (RAG), Audit Logging.</a:t>
                      </a:r>
                    </a:p>
                  </a:txBody>
                  <a:tcPr marL="7620" marR="7620" marT="7620" marB="0"/>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Aura System:</a:t>
                      </a:r>
                      <a:r>
                        <a:rPr lang="en-GB" sz="1200" dirty="0">
                          <a:latin typeface="Times New Roman" panose="02020603050405020304" pitchFamily="18" charset="0"/>
                          <a:cs typeface="Times New Roman" panose="02020603050405020304" pitchFamily="18" charset="0"/>
                        </a:rPr>
                        <a:t> Achieved 99% document classification accuracy, reduced initial assessment time by 93% improving legal workflow efficiency.</a:t>
                      </a:r>
                      <a:endParaRPr lang="en-US" sz="12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100" b="0" i="0" u="none" strike="noStrike" dirty="0">
                          <a:solidFill>
                            <a:srgbClr val="000000"/>
                          </a:solidFill>
                          <a:effectLst/>
                          <a:latin typeface="Times New Roman" panose="02020603050405020304" pitchFamily="18" charset="0"/>
                          <a:cs typeface="Times New Roman" panose="02020603050405020304" pitchFamily="18" charset="0"/>
                        </a:rPr>
                        <a:t>Geographical limitation, Over-reliance risk, Data Privacy &amp; Security, Gaps in Training Data, Lack of Binding AI Standards.</a:t>
                      </a:r>
                    </a:p>
                  </a:txBody>
                  <a:tcPr marL="7620" marR="7620" marT="7620" marB="0"/>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5</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9547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LITERATURE SURVEY (CONTD..,)</a:t>
            </a:r>
          </a:p>
        </p:txBody>
      </p:sp>
      <p:sp>
        <p:nvSpPr>
          <p:cNvPr id="5" name="Slide Number Placeholder 4"/>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6</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9" name="Content Placeholder 5"/>
          <p:cNvGraphicFramePr>
            <a:graphicFrameLocks/>
          </p:cNvGraphicFramePr>
          <p:nvPr/>
        </p:nvGraphicFramePr>
        <p:xfrm>
          <a:off x="685798" y="1669893"/>
          <a:ext cx="11521439" cy="5271399"/>
        </p:xfrm>
        <a:graphic>
          <a:graphicData uri="http://schemas.openxmlformats.org/drawingml/2006/table">
            <a:tbl>
              <a:tblPr firstRow="1" firstCol="1" bandRow="1">
                <a:tableStyleId>{BC89EF96-8CEA-46FF-86C4-4CE0E7609802}</a:tableStyleId>
              </a:tblPr>
              <a:tblGrid>
                <a:gridCol w="704928">
                  <a:extLst>
                    <a:ext uri="{9D8B030D-6E8A-4147-A177-3AD203B41FA5}">
                      <a16:colId xmlns:a16="http://schemas.microsoft.com/office/drawing/2014/main" val="20000"/>
                    </a:ext>
                  </a:extLst>
                </a:gridCol>
                <a:gridCol w="2553898">
                  <a:extLst>
                    <a:ext uri="{9D8B030D-6E8A-4147-A177-3AD203B41FA5}">
                      <a16:colId xmlns:a16="http://schemas.microsoft.com/office/drawing/2014/main" val="20001"/>
                    </a:ext>
                  </a:extLst>
                </a:gridCol>
                <a:gridCol w="2929472">
                  <a:extLst>
                    <a:ext uri="{9D8B030D-6E8A-4147-A177-3AD203B41FA5}">
                      <a16:colId xmlns:a16="http://schemas.microsoft.com/office/drawing/2014/main" val="20002"/>
                    </a:ext>
                  </a:extLst>
                </a:gridCol>
                <a:gridCol w="2854357">
                  <a:extLst>
                    <a:ext uri="{9D8B030D-6E8A-4147-A177-3AD203B41FA5}">
                      <a16:colId xmlns:a16="http://schemas.microsoft.com/office/drawing/2014/main" val="1023101934"/>
                    </a:ext>
                  </a:extLst>
                </a:gridCol>
                <a:gridCol w="2478784">
                  <a:extLst>
                    <a:ext uri="{9D8B030D-6E8A-4147-A177-3AD203B41FA5}">
                      <a16:colId xmlns:a16="http://schemas.microsoft.com/office/drawing/2014/main" val="548304626"/>
                    </a:ext>
                  </a:extLst>
                </a:gridCol>
              </a:tblGrid>
              <a:tr h="394708">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16171">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5</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Aalap: AI Assistant for Legal &amp; Paralegal Functions in India</a:t>
                      </a:r>
                    </a:p>
                  </a:txBody>
                  <a:tcPr marL="7620" marR="7620" marT="762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Base Large Language Model (LLM), Fine-tuning Method: The model was developed using supervised fine-tuning, Parameter-Efficient Tuning (PET), Low-Rank Adaption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LoRA</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Optimization:Paged</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Adam 32-bit optimizer and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Deepseed</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stage 3.</a:t>
                      </a:r>
                    </a:p>
                  </a:txBody>
                  <a:tcPr marL="7620" marR="7620" marT="7620" marB="0">
                    <a:solidFill>
                      <a:srgbClr val="C4E1F2"/>
                    </a:solidFill>
                  </a:tcPr>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Aalap Model:</a:t>
                      </a:r>
                      <a:r>
                        <a:rPr lang="en-GB" sz="1200" dirty="0">
                          <a:latin typeface="Times New Roman" panose="02020603050405020304" pitchFamily="18" charset="0"/>
                          <a:cs typeface="Times New Roman" panose="02020603050405020304" pitchFamily="18" charset="0"/>
                        </a:rPr>
                        <a:t> Performed well on verbose legal tasks, on-premise deployment ensured data security and better practitioner usability.</a:t>
                      </a:r>
                      <a:endParaRPr lang="en-US" sz="12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050" b="0" i="0" u="none" strike="noStrike" dirty="0">
                          <a:solidFill>
                            <a:srgbClr val="000000"/>
                          </a:solidFill>
                          <a:effectLst/>
                          <a:latin typeface="Times New Roman" panose="02020603050405020304" pitchFamily="18" charset="0"/>
                          <a:cs typeface="Times New Roman" panose="02020603050405020304" pitchFamily="18" charset="0"/>
                        </a:rPr>
                        <a:t>Aalap showed weaker performance on tasks like summary generation, event timeline generation, and constitution general knowledge, low credibility(the scale can be narrowed down to increase credibility.)</a:t>
                      </a:r>
                    </a:p>
                  </a:txBody>
                  <a:tcPr marL="7620" marR="7620" marT="7620" marB="0">
                    <a:solidFill>
                      <a:srgbClr val="C4E1F2"/>
                    </a:solidFill>
                  </a:tcPr>
                </a:tc>
                <a:extLst>
                  <a:ext uri="{0D108BD9-81ED-4DB2-BD59-A6C34878D82A}">
                    <a16:rowId xmlns:a16="http://schemas.microsoft.com/office/drawing/2014/main" val="10001"/>
                  </a:ext>
                </a:extLst>
              </a:tr>
              <a:tr h="1243562">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6</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LawLLM</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LawLarge</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Language Model for the US Legal System</a:t>
                      </a:r>
                    </a:p>
                  </a:txBody>
                  <a:tcPr marL="7620" marR="7620" marT="7620" marB="0"/>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Multi-task learning, Instruction tuning, 4-bit quantized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LoRA</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GPT-4 preprocessing, Precedent Knowledge Graph (KG), Few-shot In-Context Learning (ICL), Vector database, BERT embeddings.</a:t>
                      </a:r>
                    </a:p>
                  </a:txBody>
                  <a:tcPr marL="7620" marR="7620" marT="7620" marB="0"/>
                </a:tc>
                <a:tc>
                  <a:txBody>
                    <a:bodyPr/>
                    <a:lstStyle/>
                    <a:p>
                      <a:pPr marL="0" marR="0" algn="l">
                        <a:lnSpc>
                          <a:spcPct val="115000"/>
                        </a:lnSpc>
                        <a:spcBef>
                          <a:spcPts val="0"/>
                        </a:spcBef>
                        <a:spcAft>
                          <a:spcPts val="0"/>
                        </a:spcAft>
                      </a:pPr>
                      <a:r>
                        <a:rPr lang="en-GB" sz="1200" b="1" dirty="0" err="1">
                          <a:latin typeface="Times New Roman" panose="02020603050405020304" pitchFamily="18" charset="0"/>
                          <a:cs typeface="Times New Roman" panose="02020603050405020304" pitchFamily="18" charset="0"/>
                        </a:rPr>
                        <a:t>LawLLM</a:t>
                      </a:r>
                      <a:r>
                        <a:rPr lang="en-GB" sz="1200" b="1" dirty="0">
                          <a:latin typeface="Times New Roman" panose="02020603050405020304" pitchFamily="18" charset="0"/>
                          <a:cs typeface="Times New Roman" panose="02020603050405020304" pitchFamily="18" charset="0"/>
                        </a:rPr>
                        <a:t>:</a:t>
                      </a:r>
                      <a:r>
                        <a:rPr lang="en-GB" sz="1200" dirty="0">
                          <a:latin typeface="Times New Roman" panose="02020603050405020304" pitchFamily="18" charset="0"/>
                          <a:cs typeface="Times New Roman" panose="02020603050405020304" pitchFamily="18" charset="0"/>
                        </a:rPr>
                        <a:t> Outperformed GPT-4 with minimal hallucination, strong reliance on case-specific details improved precedent prediction.</a:t>
                      </a:r>
                      <a:endParaRPr lang="en-US" sz="12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IN" sz="1050" b="0" i="0" u="none" strike="noStrike" dirty="0">
                          <a:solidFill>
                            <a:srgbClr val="000000"/>
                          </a:solidFill>
                          <a:effectLst/>
                          <a:latin typeface="Times New Roman" panose="02020603050405020304" pitchFamily="18" charset="0"/>
                          <a:cs typeface="Times New Roman" panose="02020603050405020304" pitchFamily="18" charset="0"/>
                        </a:rPr>
                        <a:t>Complexity of legal language, Subtlety of precedent vs. similar cases distinction, Models often conflate case types, Prior models focus on single-task challenges, Most baselines show performance drop in PCR vs. SCR, Baseline models exhibit high hallucination rates (e.g., LLaMa2-7b).</a:t>
                      </a:r>
                    </a:p>
                  </a:txBody>
                  <a:tcPr marL="7620" marR="7620" marT="7620" marB="0"/>
                </a:tc>
                <a:extLst>
                  <a:ext uri="{0D108BD9-81ED-4DB2-BD59-A6C34878D82A}">
                    <a16:rowId xmlns:a16="http://schemas.microsoft.com/office/drawing/2014/main" val="10002"/>
                  </a:ext>
                </a:extLst>
              </a:tr>
              <a:tr h="1069158">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7</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DISC-</a:t>
                      </a: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LawLLM</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Fine-tuning Large Language Models for Intelligent Legal Services</a:t>
                      </a:r>
                    </a:p>
                  </a:txBody>
                  <a:tcPr marL="7620" marR="7620" marT="762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Supervised Fine-Tuning (SFT), Legal syllogism prompting, Retrieval Augmentation (RAG),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Behavior</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Shaping, Law-specific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CoT</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LCoT</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GPT-3.5 referee model, Dynamic knowledge base.</a:t>
                      </a:r>
                    </a:p>
                  </a:txBody>
                  <a:tcPr marL="7620" marR="7620" marT="7620" marB="0">
                    <a:solidFill>
                      <a:srgbClr val="C4E1F2"/>
                    </a:solidFill>
                  </a:tcPr>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DISC-</a:t>
                      </a:r>
                      <a:r>
                        <a:rPr lang="en-GB" sz="1200" b="1" dirty="0" err="1">
                          <a:latin typeface="Times New Roman" panose="02020603050405020304" pitchFamily="18" charset="0"/>
                          <a:cs typeface="Times New Roman" panose="02020603050405020304" pitchFamily="18" charset="0"/>
                        </a:rPr>
                        <a:t>LawLLM</a:t>
                      </a:r>
                      <a:r>
                        <a:rPr lang="en-GB" sz="1200" b="1" dirty="0">
                          <a:latin typeface="Times New Roman" panose="02020603050405020304" pitchFamily="18" charset="0"/>
                          <a:cs typeface="Times New Roman" panose="02020603050405020304" pitchFamily="18" charset="0"/>
                        </a:rPr>
                        <a:t>:</a:t>
                      </a:r>
                      <a:r>
                        <a:rPr lang="en-GB" sz="1200" dirty="0">
                          <a:latin typeface="Times New Roman" panose="02020603050405020304" pitchFamily="18" charset="0"/>
                          <a:cs typeface="Times New Roman" panose="02020603050405020304" pitchFamily="18" charset="0"/>
                        </a:rPr>
                        <a:t> Surpassed GPT-3.5-Turbo in objective and subjective evaluations, responses showed higher jurisprudential reasoning consistency.</a:t>
                      </a:r>
                      <a:endParaRPr lang="en-US" sz="12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050" b="0" i="0" u="none" strike="noStrike" dirty="0">
                          <a:solidFill>
                            <a:srgbClr val="000000"/>
                          </a:solidFill>
                          <a:effectLst/>
                          <a:latin typeface="Times New Roman" panose="02020603050405020304" pitchFamily="18" charset="0"/>
                          <a:cs typeface="Times New Roman" panose="02020603050405020304" pitchFamily="18" charset="0"/>
                        </a:rPr>
                        <a:t>Prior </a:t>
                      </a:r>
                      <a:r>
                        <a:rPr lang="en-GB" sz="1050" b="0" i="0" u="none" strike="noStrike" dirty="0" err="1">
                          <a:solidFill>
                            <a:srgbClr val="000000"/>
                          </a:solidFill>
                          <a:effectLst/>
                          <a:latin typeface="Times New Roman" panose="02020603050405020304" pitchFamily="18" charset="0"/>
                          <a:cs typeface="Times New Roman" panose="02020603050405020304" pitchFamily="18" charset="0"/>
                        </a:rPr>
                        <a:t>LegalAI</a:t>
                      </a:r>
                      <a:r>
                        <a:rPr lang="en-GB" sz="1050" b="0" i="0" u="none" strike="noStrike" dirty="0">
                          <a:solidFill>
                            <a:srgbClr val="000000"/>
                          </a:solidFill>
                          <a:effectLst/>
                          <a:latin typeface="Times New Roman" panose="02020603050405020304" pitchFamily="18" charset="0"/>
                          <a:cs typeface="Times New Roman" panose="02020603050405020304" pitchFamily="18" charset="0"/>
                        </a:rPr>
                        <a:t> confines broader application, Generic LLMs unsuitable for specialized tasks, High demand for intricate legal reasoning/syllogism, Risk of hallucination or outdated knowledge, Foundational capability may diminish during SFT.</a:t>
                      </a:r>
                    </a:p>
                  </a:txBody>
                  <a:tcPr marL="7620" marR="7620" marT="7620" marB="0">
                    <a:solidFill>
                      <a:srgbClr val="C4E1F2"/>
                    </a:solidFill>
                  </a:tcPr>
                </a:tc>
                <a:extLst>
                  <a:ext uri="{0D108BD9-81ED-4DB2-BD59-A6C34878D82A}">
                    <a16:rowId xmlns:a16="http://schemas.microsoft.com/office/drawing/2014/main" val="10003"/>
                  </a:ext>
                </a:extLst>
              </a:tr>
              <a:tr h="1440709">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8</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Legal Judgment Reimagined: </a:t>
                      </a: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PredEx</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and the Rise of Intelligent AI Interpretation in Indian Courts</a:t>
                      </a:r>
                    </a:p>
                  </a:txBody>
                  <a:tcPr marL="7620" marR="7620" marT="7620" marB="0"/>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Instruction tuning, Expert annotation, Binary classification, Abstract reasoning generation, Key sentence extraction, Token chunking, Likert scale evaluation, Hallucination mitigation.</a:t>
                      </a:r>
                    </a:p>
                  </a:txBody>
                  <a:tcPr marL="7620" marR="7620" marT="7620" marB="0"/>
                </a:tc>
                <a:tc>
                  <a:txBody>
                    <a:bodyPr/>
                    <a:lstStyle/>
                    <a:p>
                      <a:pPr marL="0" marR="0" algn="l">
                        <a:lnSpc>
                          <a:spcPct val="115000"/>
                        </a:lnSpc>
                        <a:spcBef>
                          <a:spcPts val="0"/>
                        </a:spcBef>
                        <a:spcAft>
                          <a:spcPts val="0"/>
                        </a:spcAft>
                      </a:pPr>
                      <a:r>
                        <a:rPr lang="en-IN" sz="1200" b="1" dirty="0" err="1">
                          <a:latin typeface="Times New Roman" panose="02020603050405020304" pitchFamily="18" charset="0"/>
                          <a:cs typeface="Times New Roman" panose="02020603050405020304" pitchFamily="18" charset="0"/>
                        </a:rPr>
                        <a:t>PredEx</a:t>
                      </a:r>
                      <a:r>
                        <a:rPr lang="en-IN" sz="1200" b="1" dirty="0">
                          <a:latin typeface="Times New Roman" panose="02020603050405020304" pitchFamily="18" charset="0"/>
                          <a:cs typeface="Times New Roman" panose="02020603050405020304" pitchFamily="18" charset="0"/>
                        </a:rPr>
                        <a:t> Dataset:</a:t>
                      </a:r>
                      <a:r>
                        <a:rPr lang="en-IN" sz="1200" dirty="0">
                          <a:latin typeface="Times New Roman" panose="02020603050405020304" pitchFamily="18" charset="0"/>
                          <a:cs typeface="Times New Roman" panose="02020603050405020304" pitchFamily="18" charset="0"/>
                        </a:rPr>
                        <a:t> Largest Indian LJP dataset enhanced explanation accuracy, fine-tuned models reduced hallucinations and improved clarity.</a:t>
                      </a:r>
                      <a:endParaRPr lang="en-US" sz="12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IN" sz="1050" b="0" i="0" u="none" strike="noStrike" dirty="0">
                          <a:solidFill>
                            <a:srgbClr val="000000"/>
                          </a:solidFill>
                          <a:effectLst/>
                          <a:latin typeface="Times New Roman" panose="02020603050405020304" pitchFamily="18" charset="0"/>
                          <a:cs typeface="Times New Roman" panose="02020603050405020304" pitchFamily="18" charset="0"/>
                        </a:rPr>
                        <a:t>Generative models struggle with </a:t>
                      </a:r>
                      <a:r>
                        <a:rPr lang="en-IN" sz="1050" b="0" i="0" u="none" strike="noStrike" dirty="0" err="1">
                          <a:solidFill>
                            <a:srgbClr val="000000"/>
                          </a:solidFill>
                          <a:effectLst/>
                          <a:latin typeface="Times New Roman" panose="02020603050405020304" pitchFamily="18" charset="0"/>
                          <a:cs typeface="Times New Roman" panose="02020603050405020304" pitchFamily="18" charset="0"/>
                        </a:rPr>
                        <a:t>analyzing</a:t>
                      </a:r>
                      <a:r>
                        <a:rPr lang="en-IN" sz="1050" b="0" i="0" u="none" strike="noStrike" dirty="0">
                          <a:solidFill>
                            <a:srgbClr val="000000"/>
                          </a:solidFill>
                          <a:effectLst/>
                          <a:latin typeface="Times New Roman" panose="02020603050405020304" pitchFamily="18" charset="0"/>
                          <a:cs typeface="Times New Roman" panose="02020603050405020304" pitchFamily="18" charset="0"/>
                        </a:rPr>
                        <a:t> lengthy documents, Risk of incomplete context grasp (using only last 1000 tokens), Frequent truncated responses (512-token generation limit), Pre-trained models lack Indian legal domain-specific knowledge, Generative models exhibit hallucination issues, Pre-trained models sometimes produce contradictory outcomes.</a:t>
                      </a:r>
                    </a:p>
                  </a:txBody>
                  <a:tcPr marL="7620" marR="7620" marT="762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51666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vert="horz" lIns="114945" tIns="57473" rIns="114945" bIns="57473" rtlCol="0" anchor="ctr">
            <a:normAutofit/>
          </a:bodyPr>
          <a:lstStyle/>
          <a:p>
            <a:r>
              <a:rPr lang="en-US" sz="3700" b="1" dirty="0">
                <a:solidFill>
                  <a:schemeClr val="bg1"/>
                </a:solidFill>
                <a:latin typeface="Times New Roman" pitchFamily="18" charset="0"/>
                <a:cs typeface="Times New Roman" pitchFamily="18" charset="0"/>
              </a:rPr>
              <a:t>LITERATURE SURVEY (CONTD..,)</a:t>
            </a:r>
            <a:endParaRPr lang="en-GB" sz="3700" b="1" dirty="0">
              <a:solidFill>
                <a:schemeClr val="bg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7</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5" name="Content Placeholder 5"/>
          <p:cNvGraphicFramePr>
            <a:graphicFrameLocks/>
          </p:cNvGraphicFramePr>
          <p:nvPr/>
        </p:nvGraphicFramePr>
        <p:xfrm>
          <a:off x="685799" y="1669892"/>
          <a:ext cx="11475720" cy="4388008"/>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972057">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9</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200" b="0" i="0" u="none" strike="noStrike" dirty="0">
                          <a:solidFill>
                            <a:srgbClr val="333333"/>
                          </a:solidFill>
                          <a:effectLst/>
                          <a:latin typeface="Times New Roman" panose="02020603050405020304" pitchFamily="18" charset="0"/>
                          <a:cs typeface="Times New Roman" panose="02020603050405020304" pitchFamily="18" charset="0"/>
                        </a:rPr>
                        <a:t>Legal Assistance Redefined: Transforming Legal Access with AI-Powered </a:t>
                      </a:r>
                      <a:r>
                        <a:rPr lang="en-GB" sz="1200" b="0" i="0" u="none" strike="noStrike" dirty="0" err="1">
                          <a:solidFill>
                            <a:srgbClr val="333333"/>
                          </a:solidFill>
                          <a:effectLst/>
                          <a:latin typeface="Times New Roman" panose="02020603050405020304" pitchFamily="18" charset="0"/>
                          <a:cs typeface="Times New Roman" panose="02020603050405020304" pitchFamily="18" charset="0"/>
                        </a:rPr>
                        <a:t>LegalLink</a:t>
                      </a:r>
                      <a:endParaRPr lang="en-GB" sz="12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7620" marR="7620" marT="762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Retrieval Augmented Generation (RAG) architecture, Mixtral-8x7B-Instruct-v0.1 model, Nomic AI text encoder (nomic-embed-text-v1), Vector embeddings, FAISS storage, Multilingual support (English/Malayalam),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Deepgram</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API (Voice), Python Flask backend.</a:t>
                      </a:r>
                    </a:p>
                  </a:txBody>
                  <a:tcPr marL="7620" marR="7620" marT="7620" marB="0">
                    <a:solidFill>
                      <a:srgbClr val="C4E1F2"/>
                    </a:solidFill>
                  </a:tcPr>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Indian Chatbot:</a:t>
                      </a:r>
                      <a:r>
                        <a:rPr lang="en-GB" sz="1200" dirty="0">
                          <a:latin typeface="Times New Roman" panose="02020603050405020304" pitchFamily="18" charset="0"/>
                          <a:cs typeface="Times New Roman" panose="02020603050405020304" pitchFamily="18" charset="0"/>
                        </a:rPr>
                        <a:t> Demonstrated moderate BLEU and ROUGE alignment, Mixtral-8x7B model chosen for large context window capability.</a:t>
                      </a:r>
                      <a:endParaRPr lang="en-US" sz="12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LLMs generating factual inaccuracies/hallucinations, Fine-tuning is compute-intensive/expensive, Generated responses show moderate alignment with reference text (BLEU 0.2196), Potential for enhancing language structure/content overlap, Speech-To-Text function returns failure message upon no input.</a:t>
                      </a:r>
                    </a:p>
                  </a:txBody>
                  <a:tcPr marL="7620" marR="7620" marT="7620" marB="0">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10</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RoSiLC</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-RS:A Robust Similar Legal Case Recommender System Empowered by Large Language Model and Step-Back Prompting</a:t>
                      </a:r>
                    </a:p>
                  </a:txBody>
                  <a:tcPr marL="7620" marR="7620" marT="7620" marB="0"/>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LLM utilization, Step-back prompting, Abstraction processing, Semantic matching, Generated text detection, BERT-based classification, Explainability enhancement.</a:t>
                      </a:r>
                    </a:p>
                  </a:txBody>
                  <a:tcPr marL="7620" marR="7620" marT="7620" marB="0"/>
                </a:tc>
                <a:tc>
                  <a:txBody>
                    <a:bodyPr/>
                    <a:lstStyle/>
                    <a:p>
                      <a:pPr marL="0" marR="0" algn="l">
                        <a:lnSpc>
                          <a:spcPct val="115000"/>
                        </a:lnSpc>
                        <a:spcBef>
                          <a:spcPts val="0"/>
                        </a:spcBef>
                        <a:spcAft>
                          <a:spcPts val="0"/>
                        </a:spcAft>
                      </a:pPr>
                      <a:r>
                        <a:rPr lang="en-GB" sz="1200" b="1" dirty="0" err="1">
                          <a:latin typeface="Times New Roman" panose="02020603050405020304" pitchFamily="18" charset="0"/>
                          <a:cs typeface="Times New Roman" panose="02020603050405020304" pitchFamily="18" charset="0"/>
                        </a:rPr>
                        <a:t>RoSiLC</a:t>
                      </a:r>
                      <a:r>
                        <a:rPr lang="en-GB" sz="1200" b="1" dirty="0">
                          <a:latin typeface="Times New Roman" panose="02020603050405020304" pitchFamily="18" charset="0"/>
                          <a:cs typeface="Times New Roman" panose="02020603050405020304" pitchFamily="18" charset="0"/>
                        </a:rPr>
                        <a:t>-RS Framework:</a:t>
                      </a:r>
                      <a:r>
                        <a:rPr lang="en-GB" sz="1200" dirty="0">
                          <a:latin typeface="Times New Roman" panose="02020603050405020304" pitchFamily="18" charset="0"/>
                          <a:cs typeface="Times New Roman" panose="02020603050405020304" pitchFamily="18" charset="0"/>
                        </a:rPr>
                        <a:t> Improved retrieval accuracy and detection of AI-generated text, highlighted low public awareness of AI legal reliability.</a:t>
                      </a:r>
                      <a:endParaRPr lang="en-US" sz="12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AI-generated false legal content threat, Widespread LLM application challenges, Public unawareness of false content (41%), Low public legal liability understanding (6%), Traditional retrieval lacks deep semantic understanding, Systems susceptible to AI content interference, LLMs struggle with controversial judgments, Small performance gains from larger LLMs.</a:t>
                      </a:r>
                    </a:p>
                  </a:txBody>
                  <a:tcPr marL="7620" marR="7620" marT="762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45243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4. RESEARCH GAPS</a:t>
            </a:r>
          </a:p>
        </p:txBody>
      </p:sp>
      <p:sp>
        <p:nvSpPr>
          <p:cNvPr id="3" name="Content Placeholder 2"/>
          <p:cNvSpPr>
            <a:spLocks noGrp="1"/>
          </p:cNvSpPr>
          <p:nvPr>
            <p:ph idx="1"/>
          </p:nvPr>
        </p:nvSpPr>
        <p:spPr/>
        <p:txBody>
          <a:bodyPr>
            <a:normAutofit/>
          </a:bodyPr>
          <a:lstStyle/>
          <a:p>
            <a:endParaRPr lang="en-US" sz="2400" dirty="0">
              <a:latin typeface="Times New Roman" pitchFamily="18" charset="0"/>
              <a:cs typeface="Times New Roman" pitchFamily="18" charset="0"/>
            </a:endParaRPr>
          </a:p>
          <a:p>
            <a:r>
              <a:rPr lang="en-GB" sz="2400" b="1" dirty="0">
                <a:latin typeface="Times New Roman" panose="02020603050405020304" pitchFamily="18" charset="0"/>
                <a:cs typeface="Times New Roman" panose="02020603050405020304" pitchFamily="18" charset="0"/>
              </a:rPr>
              <a:t>Geographical and Topical Gap:</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Existing research does not focus on child laws or address state-specific legal frameworks, resulting in both geographical and thematic gaps.</a:t>
            </a:r>
          </a:p>
          <a:p>
            <a:r>
              <a:rPr lang="en-GB" sz="2400" b="1" dirty="0">
                <a:latin typeface="Times New Roman" panose="02020603050405020304" pitchFamily="18" charset="0"/>
                <a:cs typeface="Times New Roman" panose="02020603050405020304" pitchFamily="18" charset="0"/>
              </a:rPr>
              <a:t>Conceptual Gap (AI Hallucination):</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Many studies report hallucination issues in AI-generated legal responses, indicating a need for improved factual grounding before deployment in official or legal contexts.</a:t>
            </a:r>
          </a:p>
          <a:p>
            <a:r>
              <a:rPr lang="en-GB" sz="2400" b="1" dirty="0">
                <a:latin typeface="Times New Roman" panose="02020603050405020304" pitchFamily="18" charset="0"/>
                <a:cs typeface="Times New Roman" panose="02020603050405020304" pitchFamily="18" charset="0"/>
              </a:rPr>
              <a:t>Methodological Gap (Reliability &amp; Validation):</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Current works lack consistent and transparent accuracy or reliability assessments, limiting the credibility and practical applicability of their results.</a:t>
            </a:r>
            <a:endParaRPr lang="en-US" sz="2400" dirty="0">
              <a:latin typeface="Times New Roman" panose="02020603050405020304"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8</a:t>
            </a:fld>
            <a:endParaRPr kumimoji="0" lang="en-US" sz="15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06147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266A5-DEC6-423E-4642-6DAA46905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C9D02-AB68-99CB-182A-0A2671D6BD83}"/>
              </a:ext>
            </a:extLst>
          </p:cNvPr>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r>
              <a:rPr lang="en-GB" sz="3700" b="1" dirty="0">
                <a:solidFill>
                  <a:schemeClr val="bg1"/>
                </a:solidFill>
                <a:latin typeface="Times New Roman" pitchFamily="18" charset="0"/>
                <a:cs typeface="Times New Roman" pitchFamily="18" charset="0"/>
              </a:rPr>
              <a:t>5. OBJECTIVES</a:t>
            </a:r>
          </a:p>
        </p:txBody>
      </p:sp>
      <p:sp>
        <p:nvSpPr>
          <p:cNvPr id="4" name="Slide Number Placeholder 3">
            <a:extLst>
              <a:ext uri="{FF2B5EF4-FFF2-40B4-BE49-F238E27FC236}">
                <a16:creationId xmlns:a16="http://schemas.microsoft.com/office/drawing/2014/main" id="{0EDA4E0E-51B9-057E-EB16-03F0967919ED}"/>
              </a:ext>
            </a:extLst>
          </p:cNvPr>
          <p:cNvSpPr>
            <a:spLocks noGrp="1"/>
          </p:cNvSpPr>
          <p:nvPr>
            <p:ph type="sldNum" sz="quarter" idx="12"/>
          </p:nvPr>
        </p:nvSpPr>
        <p:spPr/>
        <p:txBody>
          <a:bodyPr/>
          <a:lstStyle/>
          <a:p>
            <a:fld id="{C02A2637-A5A3-49FA-B214-6E67543099EF}" type="slidenum">
              <a:rPr lang="en-US" smtClean="0"/>
              <a:t>9</a:t>
            </a:fld>
            <a:endParaRPr lang="en-US"/>
          </a:p>
        </p:txBody>
      </p:sp>
    </p:spTree>
    <p:extLst>
      <p:ext uri="{BB962C8B-B14F-4D97-AF65-F5344CB8AC3E}">
        <p14:creationId xmlns:p14="http://schemas.microsoft.com/office/powerpoint/2010/main" val="786986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6. MODULE IDENTIFICATION</a:t>
            </a:r>
          </a:p>
        </p:txBody>
      </p:sp>
      <p:sp>
        <p:nvSpPr>
          <p:cNvPr id="3" name="Content Placeholder 2"/>
          <p:cNvSpPr>
            <a:spLocks noGrp="1"/>
          </p:cNvSpPr>
          <p:nvPr>
            <p:ph idx="1"/>
          </p:nvPr>
        </p:nvSpPr>
        <p:spPr/>
        <p:txBody>
          <a:bodyPr>
            <a:normAutofit/>
          </a:bodyPr>
          <a:lstStyle/>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&lt;&lt; </a:t>
            </a:r>
            <a:r>
              <a:rPr lang="en-US" sz="2400" dirty="0"/>
              <a:t>• Identify key modules/subsystems</a:t>
            </a:r>
          </a:p>
          <a:p>
            <a:r>
              <a:rPr lang="en-US" sz="2400" dirty="0"/>
              <a:t>• Define functionality of each module</a:t>
            </a:r>
          </a:p>
          <a:p>
            <a:r>
              <a:rPr lang="en-US" sz="2400" dirty="0"/>
              <a:t>• Show module interaction</a:t>
            </a:r>
          </a:p>
          <a:p>
            <a:pPr algn="just"/>
            <a:r>
              <a:rPr lang="en-US" sz="2400" dirty="0">
                <a:latin typeface="Times New Roman" pitchFamily="18" charset="0"/>
                <a:cs typeface="Times New Roman" pitchFamily="18" charset="0"/>
              </a:rPr>
              <a:t> FONT TIMES NEW ROMAN SIZE 24&gt;&gt;</a:t>
            </a:r>
          </a:p>
          <a:p>
            <a:endParaRPr lang="en-US" dirty="0"/>
          </a:p>
        </p:txBody>
      </p:sp>
      <p:sp>
        <p:nvSpPr>
          <p:cNvPr id="4" name="Slide Number Placeholder 3"/>
          <p:cNvSpPr>
            <a:spLocks noGrp="1"/>
          </p:cNvSpPr>
          <p:nvPr>
            <p:ph type="sldNum" sz="quarter" idx="12"/>
          </p:nvPr>
        </p:nvSpPr>
        <p:spPr/>
        <p:txBody>
          <a:bodyPr/>
          <a:lstStyle/>
          <a:p>
            <a:fld id="{C02A2637-A5A3-49FA-B214-6E67543099EF}" type="slidenum">
              <a:rPr lang="en-US" smtClean="0"/>
              <a:t>10</a:t>
            </a:fld>
            <a:endParaRPr lang="en-US"/>
          </a:p>
        </p:txBody>
      </p:sp>
    </p:spTree>
    <p:extLst>
      <p:ext uri="{BB962C8B-B14F-4D97-AF65-F5344CB8AC3E}">
        <p14:creationId xmlns:p14="http://schemas.microsoft.com/office/powerpoint/2010/main" val="194441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7. SYSTEM ARCHITECTURE</a:t>
            </a:r>
          </a:p>
        </p:txBody>
      </p:sp>
      <p:sp>
        <p:nvSpPr>
          <p:cNvPr id="3" name="Content Placeholder 2"/>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Overall architecture diagram</a:t>
            </a:r>
          </a:p>
          <a:p>
            <a:r>
              <a:rPr lang="en-US" sz="2800" dirty="0"/>
              <a:t>• Data flow between modules</a:t>
            </a:r>
          </a:p>
          <a:p>
            <a:r>
              <a:rPr lang="en-US" sz="2800" dirty="0"/>
              <a:t>• Technology stack used</a:t>
            </a:r>
            <a:r>
              <a:rPr lang="en-US" sz="2600" dirty="0">
                <a:latin typeface="Times New Roman" panose="02020603050405020304" pitchFamily="18" charset="0"/>
                <a:cs typeface="Times New Roman" panose="02020603050405020304" pitchFamily="18" charset="0"/>
              </a:rPr>
              <a:t> TEXT FONT TIMES NEW ROMAN&gt;&gt;</a:t>
            </a:r>
          </a:p>
        </p:txBody>
      </p:sp>
      <p:sp>
        <p:nvSpPr>
          <p:cNvPr id="4" name="Slide Number Placeholder 3"/>
          <p:cNvSpPr>
            <a:spLocks noGrp="1"/>
          </p:cNvSpPr>
          <p:nvPr>
            <p:ph type="sldNum" sz="quarter" idx="12"/>
          </p:nvPr>
        </p:nvSpPr>
        <p:spPr/>
        <p:txBody>
          <a:bodyPr/>
          <a:lstStyle/>
          <a:p>
            <a:fld id="{C02A2637-A5A3-49FA-B214-6E67543099EF}" type="slidenum">
              <a:rPr lang="en-US" smtClean="0"/>
              <a:t>11</a:t>
            </a:fld>
            <a:endParaRPr lang="en-US"/>
          </a:p>
        </p:txBody>
      </p:sp>
    </p:spTree>
    <p:extLst>
      <p:ext uri="{BB962C8B-B14F-4D97-AF65-F5344CB8AC3E}">
        <p14:creationId xmlns:p14="http://schemas.microsoft.com/office/powerpoint/2010/main" val="1380825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14F7B-448F-5933-E4F5-9F6656ACE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B1540-D08A-936D-657B-2CA7AA0EF4A8}"/>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8. DEVELOPMENT &amp; INTEGRATION</a:t>
            </a:r>
          </a:p>
        </p:txBody>
      </p:sp>
      <p:sp>
        <p:nvSpPr>
          <p:cNvPr id="3" name="Content Placeholder 2">
            <a:extLst>
              <a:ext uri="{FF2B5EF4-FFF2-40B4-BE49-F238E27FC236}">
                <a16:creationId xmlns:a16="http://schemas.microsoft.com/office/drawing/2014/main" id="{8FD1C32F-FDCF-2099-8C99-4CD33048817D}"/>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Implementation of modules</a:t>
            </a:r>
          </a:p>
          <a:p>
            <a:r>
              <a:rPr lang="en-US" sz="2800" dirty="0"/>
              <a:t>• Integration strategy</a:t>
            </a:r>
          </a:p>
          <a:p>
            <a:r>
              <a:rPr lang="en-US" sz="2800" dirty="0"/>
              <a:t>• Challenges faced and solutions</a:t>
            </a:r>
          </a:p>
          <a:p>
            <a:pPr marL="0" indent="0">
              <a:buNone/>
            </a:pPr>
            <a:r>
              <a:rPr lang="en-US" sz="2600" dirty="0">
                <a:latin typeface="Times New Roman" panose="02020603050405020304" pitchFamily="18" charset="0"/>
                <a:cs typeface="Times New Roman" panose="02020603050405020304" pitchFamily="18" charset="0"/>
              </a:rPr>
              <a:t> FONT TIMES NEW ROMAN&gt;&gt;</a:t>
            </a:r>
          </a:p>
        </p:txBody>
      </p:sp>
      <p:sp>
        <p:nvSpPr>
          <p:cNvPr id="4" name="Slide Number Placeholder 3">
            <a:extLst>
              <a:ext uri="{FF2B5EF4-FFF2-40B4-BE49-F238E27FC236}">
                <a16:creationId xmlns:a16="http://schemas.microsoft.com/office/drawing/2014/main" id="{E6869C87-894B-EA46-CE5B-2DDA46DB8C2C}"/>
              </a:ext>
            </a:extLst>
          </p:cNvPr>
          <p:cNvSpPr>
            <a:spLocks noGrp="1"/>
          </p:cNvSpPr>
          <p:nvPr>
            <p:ph type="sldNum" sz="quarter" idx="12"/>
          </p:nvPr>
        </p:nvSpPr>
        <p:spPr/>
        <p:txBody>
          <a:bodyPr/>
          <a:lstStyle/>
          <a:p>
            <a:fld id="{C02A2637-A5A3-49FA-B214-6E67543099EF}" type="slidenum">
              <a:rPr lang="en-US" smtClean="0"/>
              <a:t>12</a:t>
            </a:fld>
            <a:endParaRPr lang="en-US"/>
          </a:p>
        </p:txBody>
      </p:sp>
    </p:spTree>
    <p:extLst>
      <p:ext uri="{BB962C8B-B14F-4D97-AF65-F5344CB8AC3E}">
        <p14:creationId xmlns:p14="http://schemas.microsoft.com/office/powerpoint/2010/main" val="3369243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FF5EA-D62B-1983-B948-F514CA25F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138A4-31C7-3BA3-41EC-856FFC3F2CD3}"/>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9. PROTOTYPE / RESEARCH FRAMEWORK</a:t>
            </a:r>
          </a:p>
        </p:txBody>
      </p:sp>
      <p:sp>
        <p:nvSpPr>
          <p:cNvPr id="3" name="Content Placeholder 2">
            <a:extLst>
              <a:ext uri="{FF2B5EF4-FFF2-40B4-BE49-F238E27FC236}">
                <a16:creationId xmlns:a16="http://schemas.microsoft.com/office/drawing/2014/main" id="{81FDCD9C-F660-95CA-73DE-982F8EE861D4}"/>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Working prototype description</a:t>
            </a:r>
          </a:p>
          <a:p>
            <a:r>
              <a:rPr lang="en-US" sz="2800" dirty="0"/>
              <a:t>OR</a:t>
            </a:r>
          </a:p>
          <a:p>
            <a:r>
              <a:rPr lang="en-US" sz="2800" dirty="0"/>
              <a:t>• Research framework setup</a:t>
            </a:r>
          </a:p>
          <a:p>
            <a:pPr marL="0" indent="0">
              <a:buNone/>
            </a:pPr>
            <a:r>
              <a:rPr lang="en-US" sz="2600" dirty="0">
                <a:latin typeface="Times New Roman" panose="02020603050405020304" pitchFamily="18" charset="0"/>
                <a:cs typeface="Times New Roman" panose="02020603050405020304" pitchFamily="18" charset="0"/>
              </a:rPr>
              <a:t> FONT TIMES NEW ROMAN&gt;&gt;</a:t>
            </a:r>
          </a:p>
        </p:txBody>
      </p:sp>
      <p:sp>
        <p:nvSpPr>
          <p:cNvPr id="4" name="Slide Number Placeholder 3">
            <a:extLst>
              <a:ext uri="{FF2B5EF4-FFF2-40B4-BE49-F238E27FC236}">
                <a16:creationId xmlns:a16="http://schemas.microsoft.com/office/drawing/2014/main" id="{55D83B01-BF0B-D797-AC89-252288DAD2AE}"/>
              </a:ext>
            </a:extLst>
          </p:cNvPr>
          <p:cNvSpPr>
            <a:spLocks noGrp="1"/>
          </p:cNvSpPr>
          <p:nvPr>
            <p:ph type="sldNum" sz="quarter" idx="12"/>
          </p:nvPr>
        </p:nvSpPr>
        <p:spPr/>
        <p:txBody>
          <a:bodyPr/>
          <a:lstStyle/>
          <a:p>
            <a:fld id="{C02A2637-A5A3-49FA-B214-6E67543099EF}" type="slidenum">
              <a:rPr lang="en-US" smtClean="0"/>
              <a:t>13</a:t>
            </a:fld>
            <a:endParaRPr lang="en-US"/>
          </a:p>
        </p:txBody>
      </p:sp>
    </p:spTree>
    <p:extLst>
      <p:ext uri="{BB962C8B-B14F-4D97-AF65-F5344CB8AC3E}">
        <p14:creationId xmlns:p14="http://schemas.microsoft.com/office/powerpoint/2010/main" val="1145004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88BB3-2A5B-34AC-B39B-BAE5C65E6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448EB-8A1A-C9A3-3C48-4830472042E6}"/>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10. OUTCOME</a:t>
            </a:r>
          </a:p>
        </p:txBody>
      </p:sp>
      <p:sp>
        <p:nvSpPr>
          <p:cNvPr id="3" name="Content Placeholder 2">
            <a:extLst>
              <a:ext uri="{FF2B5EF4-FFF2-40B4-BE49-F238E27FC236}">
                <a16:creationId xmlns:a16="http://schemas.microsoft.com/office/drawing/2014/main" id="{F5CA4F36-3210-D723-E79A-086D02FA6BDF}"/>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Working model screenshots/results</a:t>
            </a:r>
          </a:p>
          <a:p>
            <a:r>
              <a:rPr lang="en-US" sz="2800" dirty="0"/>
              <a:t>OR</a:t>
            </a:r>
          </a:p>
          <a:p>
            <a:r>
              <a:rPr lang="en-US" sz="2800" dirty="0"/>
              <a:t>• Data classification &amp; analysis</a:t>
            </a:r>
          </a:p>
          <a:p>
            <a:r>
              <a:rPr lang="en-US" sz="2800" dirty="0"/>
              <a:t>• Key insights/results</a:t>
            </a:r>
          </a:p>
          <a:p>
            <a:pPr marL="0" indent="0">
              <a:buNone/>
            </a:pPr>
            <a:r>
              <a:rPr lang="en-US" sz="2600" dirty="0">
                <a:latin typeface="Times New Roman" panose="02020603050405020304" pitchFamily="18" charset="0"/>
                <a:cs typeface="Times New Roman" panose="02020603050405020304" pitchFamily="18" charset="0"/>
              </a:rPr>
              <a:t> FONT TIMES NEW ROMAN&gt;&gt;</a:t>
            </a:r>
          </a:p>
        </p:txBody>
      </p:sp>
      <p:sp>
        <p:nvSpPr>
          <p:cNvPr id="4" name="Slide Number Placeholder 3">
            <a:extLst>
              <a:ext uri="{FF2B5EF4-FFF2-40B4-BE49-F238E27FC236}">
                <a16:creationId xmlns:a16="http://schemas.microsoft.com/office/drawing/2014/main" id="{3C63C818-3FBA-7FB8-3369-BCE4AC4BD8EF}"/>
              </a:ext>
            </a:extLst>
          </p:cNvPr>
          <p:cNvSpPr>
            <a:spLocks noGrp="1"/>
          </p:cNvSpPr>
          <p:nvPr>
            <p:ph type="sldNum" sz="quarter" idx="12"/>
          </p:nvPr>
        </p:nvSpPr>
        <p:spPr/>
        <p:txBody>
          <a:bodyPr/>
          <a:lstStyle/>
          <a:p>
            <a:fld id="{C02A2637-A5A3-49FA-B214-6E67543099EF}" type="slidenum">
              <a:rPr lang="en-US" smtClean="0"/>
              <a:t>14</a:t>
            </a:fld>
            <a:endParaRPr lang="en-US"/>
          </a:p>
        </p:txBody>
      </p:sp>
    </p:spTree>
    <p:extLst>
      <p:ext uri="{BB962C8B-B14F-4D97-AF65-F5344CB8AC3E}">
        <p14:creationId xmlns:p14="http://schemas.microsoft.com/office/powerpoint/2010/main" val="3319743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6C8D-B43E-DA7C-E00A-0FC4EA185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4C6AA-E1C2-EA6C-246E-CC1479CDED74}"/>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11. RESULTS</a:t>
            </a:r>
          </a:p>
        </p:txBody>
      </p:sp>
      <p:sp>
        <p:nvSpPr>
          <p:cNvPr id="3" name="Content Placeholder 2">
            <a:extLst>
              <a:ext uri="{FF2B5EF4-FFF2-40B4-BE49-F238E27FC236}">
                <a16:creationId xmlns:a16="http://schemas.microsoft.com/office/drawing/2014/main" id="{63ED4B1E-A9C5-0A84-607D-7CB161B4660A}"/>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Performance metrics</a:t>
            </a:r>
          </a:p>
          <a:p>
            <a:r>
              <a:rPr lang="en-US" sz="2800" dirty="0"/>
              <a:t>• Observations</a:t>
            </a:r>
          </a:p>
          <a:p>
            <a:r>
              <a:rPr lang="en-US" sz="2800" dirty="0"/>
              <a:t>• Validation of approach</a:t>
            </a:r>
          </a:p>
          <a:p>
            <a:r>
              <a:rPr lang="en-US" sz="2600" dirty="0">
                <a:latin typeface="Times New Roman" panose="02020603050405020304" pitchFamily="18" charset="0"/>
                <a:cs typeface="Times New Roman" panose="02020603050405020304" pitchFamily="18" charset="0"/>
              </a:rPr>
              <a:t> FONT TIMES NEW ROMAN&gt;&gt;</a:t>
            </a:r>
          </a:p>
        </p:txBody>
      </p:sp>
      <p:sp>
        <p:nvSpPr>
          <p:cNvPr id="4" name="Slide Number Placeholder 3">
            <a:extLst>
              <a:ext uri="{FF2B5EF4-FFF2-40B4-BE49-F238E27FC236}">
                <a16:creationId xmlns:a16="http://schemas.microsoft.com/office/drawing/2014/main" id="{C20BB0C0-AF3E-C46D-0A00-DD8E18E7843A}"/>
              </a:ext>
            </a:extLst>
          </p:cNvPr>
          <p:cNvSpPr>
            <a:spLocks noGrp="1"/>
          </p:cNvSpPr>
          <p:nvPr>
            <p:ph type="sldNum" sz="quarter" idx="12"/>
          </p:nvPr>
        </p:nvSpPr>
        <p:spPr/>
        <p:txBody>
          <a:bodyPr/>
          <a:lstStyle/>
          <a:p>
            <a:fld id="{C02A2637-A5A3-49FA-B214-6E67543099EF}" type="slidenum">
              <a:rPr lang="en-US" smtClean="0"/>
              <a:t>15</a:t>
            </a:fld>
            <a:endParaRPr lang="en-US"/>
          </a:p>
        </p:txBody>
      </p:sp>
    </p:spTree>
    <p:extLst>
      <p:ext uri="{BB962C8B-B14F-4D97-AF65-F5344CB8AC3E}">
        <p14:creationId xmlns:p14="http://schemas.microsoft.com/office/powerpoint/2010/main" val="1375399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lstStyle/>
          <a:p>
            <a:r>
              <a:rPr lang="en-US" sz="3700" b="1" dirty="0">
                <a:solidFill>
                  <a:schemeClr val="bg1"/>
                </a:solidFill>
                <a:latin typeface="Times New Roman" pitchFamily="18" charset="0"/>
                <a:cs typeface="Times New Roman" pitchFamily="18" charset="0"/>
              </a:rPr>
              <a:t>12. TIMELINE / GANTT CHART</a:t>
            </a: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16</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5" name="Content Placeholder 5"/>
          <p:cNvGraphicFramePr>
            <a:graphicFrameLocks/>
          </p:cNvGraphicFramePr>
          <p:nvPr/>
        </p:nvGraphicFramePr>
        <p:xfrm>
          <a:off x="640080" y="1682133"/>
          <a:ext cx="11475720" cy="5482045"/>
        </p:xfrm>
        <a:graphic>
          <a:graphicData uri="http://schemas.openxmlformats.org/drawingml/2006/table">
            <a:tbl>
              <a:tblPr firstRow="1" firstCol="1" bandRow="1">
                <a:tableStyleId>{BC89EF96-8CEA-46FF-86C4-4CE0E7609802}</a:tableStyleId>
              </a:tblPr>
              <a:tblGrid>
                <a:gridCol w="894600">
                  <a:extLst>
                    <a:ext uri="{9D8B030D-6E8A-4147-A177-3AD203B41FA5}">
                      <a16:colId xmlns:a16="http://schemas.microsoft.com/office/drawing/2014/main" val="20000"/>
                    </a:ext>
                  </a:extLst>
                </a:gridCol>
                <a:gridCol w="3241064">
                  <a:extLst>
                    <a:ext uri="{9D8B030D-6E8A-4147-A177-3AD203B41FA5}">
                      <a16:colId xmlns:a16="http://schemas.microsoft.com/office/drawing/2014/main" val="20001"/>
                    </a:ext>
                  </a:extLst>
                </a:gridCol>
                <a:gridCol w="3717691">
                  <a:extLst>
                    <a:ext uri="{9D8B030D-6E8A-4147-A177-3AD203B41FA5}">
                      <a16:colId xmlns:a16="http://schemas.microsoft.com/office/drawing/2014/main" val="20002"/>
                    </a:ext>
                  </a:extLst>
                </a:gridCol>
                <a:gridCol w="3622365">
                  <a:extLst>
                    <a:ext uri="{9D8B030D-6E8A-4147-A177-3AD203B41FA5}">
                      <a16:colId xmlns:a16="http://schemas.microsoft.com/office/drawing/2014/main" val="1023101934"/>
                    </a:ext>
                  </a:extLst>
                </a:gridCol>
              </a:tblGrid>
              <a:tr h="396826">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Month</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Task / Activity</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Milestone / Expected Outcome</a:t>
                      </a:r>
                      <a:endParaRPr lang="en-US" sz="20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0"/>
                  </a:ext>
                </a:extLst>
              </a:tr>
              <a:tr h="1453204">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1</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ctr">
                        <a:lnSpc>
                          <a:spcPct val="115000"/>
                        </a:lnSpc>
                        <a:spcBef>
                          <a:spcPts val="0"/>
                        </a:spcBef>
                        <a:spcAft>
                          <a:spcPts val="0"/>
                        </a:spcAft>
                      </a:pPr>
                      <a:r>
                        <a:rPr lang="en-US" sz="1800" b="0" dirty="0">
                          <a:effectLst/>
                          <a:latin typeface="Times New Roman" pitchFamily="18" charset="0"/>
                          <a:ea typeface="Calibri"/>
                          <a:cs typeface="Times New Roman" pitchFamily="18" charset="0"/>
                        </a:rPr>
                        <a:t>December</a:t>
                      </a:r>
                    </a:p>
                  </a:txBody>
                  <a:tcPr marL="67838" marR="67838" marT="0" marB="0">
                    <a:solidFill>
                      <a:srgbClr val="C4E1F2"/>
                    </a:solidFill>
                  </a:tcPr>
                </a:tc>
                <a:tc>
                  <a:txBody>
                    <a:bodyPr/>
                    <a:lstStyle/>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•Collect and preprocess legal datasets (child laws, acts, FAQs, procedures).</a:t>
                      </a:r>
                    </a:p>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•Build or fine-tune the AI model for legal question-answering.</a:t>
                      </a:r>
                    </a:p>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•Implement a retrieval-based system for fact grounding.</a:t>
                      </a:r>
                      <a:endParaRPr lang="en-US" sz="14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 Functional backend with trained or fine-tuned AI model.</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Knowledge base of verified legal content created.</a:t>
                      </a:r>
                      <a:endParaRPr lang="en-US" sz="14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1"/>
                  </a:ext>
                </a:extLst>
              </a:tr>
              <a:tr h="1039837">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2</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1800" b="0" dirty="0">
                          <a:effectLst/>
                          <a:latin typeface="Times New Roman" pitchFamily="18" charset="0"/>
                          <a:ea typeface="Calibri"/>
                          <a:cs typeface="Times New Roman" pitchFamily="18" charset="0"/>
                        </a:rPr>
                        <a:t>January</a:t>
                      </a:r>
                    </a:p>
                  </a:txBody>
                  <a:tcPr marL="67838" marR="67838" marT="0" marB="0"/>
                </a:tc>
                <a:tc>
                  <a:txBody>
                    <a:bodyPr/>
                    <a:lstStyle/>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•Develop and integrate the user interface (web or app).</a:t>
                      </a:r>
                    </a:p>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•Connect AI model to the interface via APIs.</a:t>
                      </a:r>
                    </a:p>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•Conduct initial testing and debugging.</a:t>
                      </a:r>
                      <a:endParaRPr lang="en-US" sz="1400" dirty="0">
                        <a:effectLst/>
                        <a:latin typeface="Times New Roman" pitchFamily="18" charset="0"/>
                        <a:ea typeface="Calibri"/>
                        <a:cs typeface="Times New Roman" pitchFamily="18" charset="0"/>
                      </a:endParaRPr>
                    </a:p>
                  </a:txBody>
                  <a:tcPr marL="67838" marR="67838" marT="0" marB="0"/>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 Usable prototype with working chatbot interface.</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Smooth communication between frontend and backend achieved.</a:t>
                      </a:r>
                      <a:endParaRPr lang="en-US" sz="14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2"/>
                  </a:ext>
                </a:extLst>
              </a:tr>
              <a:tr h="1320101">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3</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800" b="0" dirty="0">
                          <a:effectLst/>
                          <a:latin typeface="Times New Roman" pitchFamily="18" charset="0"/>
                          <a:ea typeface="Calibri"/>
                          <a:cs typeface="Times New Roman" pitchFamily="18" charset="0"/>
                        </a:rPr>
                        <a:t>February</a:t>
                      </a:r>
                    </a:p>
                  </a:txBody>
                  <a:tcPr marL="67838" marR="67838" marT="0" marB="0">
                    <a:solidFill>
                      <a:srgbClr val="C4E1F2"/>
                    </a:solidFill>
                  </a:tcPr>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•Perform evaluation on accuracy, hallucination reduction, and reliability.</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•Gather feedback from peers or mentors.</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•Optimize performance and add additional features (like voice or multilingual support).</a:t>
                      </a:r>
                      <a:endParaRPr lang="en-US" sz="14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 Refined and improved AI system.</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Demonstrated reliability and factual accuracy.</a:t>
                      </a:r>
                      <a:endParaRPr lang="en-US" sz="14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3"/>
                  </a:ext>
                </a:extLst>
              </a:tr>
              <a:tr h="1272077">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4</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800" b="0" dirty="0">
                          <a:effectLst/>
                          <a:latin typeface="Times New Roman" pitchFamily="18" charset="0"/>
                          <a:ea typeface="Calibri"/>
                          <a:cs typeface="Times New Roman" pitchFamily="18" charset="0"/>
                        </a:rPr>
                        <a:t>March</a:t>
                      </a:r>
                    </a:p>
                  </a:txBody>
                  <a:tcPr marL="67838" marR="67838" marT="0" marB="0"/>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 Prepare final documentation, report, and presentation.</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Conduct final demonstrations and viva preparation.</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Submit the project.</a:t>
                      </a:r>
                      <a:endParaRPr lang="en-US" sz="1400" dirty="0">
                        <a:effectLst/>
                        <a:latin typeface="Times New Roman" pitchFamily="18" charset="0"/>
                        <a:ea typeface="Calibri"/>
                        <a:cs typeface="Times New Roman" pitchFamily="18" charset="0"/>
                      </a:endParaRPr>
                    </a:p>
                  </a:txBody>
                  <a:tcPr marL="67838" marR="67838" marT="0" marB="0"/>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 Completed and deployable version of the Lawyer AI Assistant.</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Final submission and presentation successfully delivered.</a:t>
                      </a:r>
                      <a:endParaRPr lang="en-US" sz="14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87296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lstStyle/>
          <a:p>
            <a:r>
              <a:rPr lang="en-US" sz="3700" b="1" dirty="0">
                <a:solidFill>
                  <a:schemeClr val="bg1"/>
                </a:solidFill>
                <a:latin typeface="Times New Roman" pitchFamily="18" charset="0"/>
                <a:cs typeface="Times New Roman" pitchFamily="18" charset="0"/>
              </a:rPr>
              <a:t>13. REFERENCES</a:t>
            </a:r>
          </a:p>
        </p:txBody>
      </p:sp>
      <p:sp>
        <p:nvSpPr>
          <p:cNvPr id="3" name="Content Placeholder 2"/>
          <p:cNvSpPr>
            <a:spLocks noGrp="1"/>
          </p:cNvSpPr>
          <p:nvPr>
            <p:ph idx="1"/>
          </p:nvPr>
        </p:nvSpPr>
        <p:spPr/>
        <p:txBody>
          <a:bodyPr>
            <a:noAutofit/>
          </a:bodyPr>
          <a:lstStyle/>
          <a:p>
            <a:pPr algn="just"/>
            <a:r>
              <a:rPr lang="en-US" sz="2300" dirty="0">
                <a:latin typeface="Times New Roman" pitchFamily="18" charset="0"/>
                <a:cs typeface="Times New Roman" pitchFamily="18" charset="0"/>
              </a:rPr>
              <a:t>Cui, J., Ning, M., Li, Z., Chen, B., Yan, Y., Li, H., ... &amp; Yuan, L. (2023). </a:t>
            </a:r>
            <a:r>
              <a:rPr lang="en-US" sz="2300" dirty="0" err="1">
                <a:latin typeface="Times New Roman" pitchFamily="18" charset="0"/>
                <a:cs typeface="Times New Roman" pitchFamily="18" charset="0"/>
              </a:rPr>
              <a:t>Chatlaw</a:t>
            </a:r>
            <a:r>
              <a:rPr lang="en-US" sz="2300" dirty="0">
                <a:latin typeface="Times New Roman" pitchFamily="18" charset="0"/>
                <a:cs typeface="Times New Roman" pitchFamily="18" charset="0"/>
              </a:rPr>
              <a:t>: A multi-agent collaborative legal assistant with knowledge graph enhanced mixture-of-experts large language model. </a:t>
            </a:r>
            <a:r>
              <a:rPr lang="en-US" sz="2300" dirty="0" err="1">
                <a:latin typeface="Times New Roman" pitchFamily="18" charset="0"/>
                <a:cs typeface="Times New Roman" pitchFamily="18" charset="0"/>
              </a:rPr>
              <a:t>arXiv</a:t>
            </a:r>
            <a:r>
              <a:rPr lang="en-US" sz="2300" dirty="0">
                <a:latin typeface="Times New Roman" pitchFamily="18" charset="0"/>
                <a:cs typeface="Times New Roman" pitchFamily="18" charset="0"/>
              </a:rPr>
              <a:t> preprint arXiv:2306.16092.</a:t>
            </a:r>
          </a:p>
          <a:p>
            <a:pPr algn="just"/>
            <a:r>
              <a:rPr lang="en-GB" sz="2300" dirty="0">
                <a:latin typeface="Times New Roman" pitchFamily="18" charset="0"/>
                <a:cs typeface="Times New Roman" pitchFamily="18" charset="0"/>
              </a:rPr>
              <a:t>Han, W., Shen, J., Liu, Y., Shi, Z., Xu, J., Hu, F., ... &amp; Ge, M. (2024). </a:t>
            </a:r>
            <a:r>
              <a:rPr lang="en-GB" sz="2300" dirty="0" err="1">
                <a:latin typeface="Times New Roman" pitchFamily="18" charset="0"/>
                <a:cs typeface="Times New Roman" pitchFamily="18" charset="0"/>
              </a:rPr>
              <a:t>LegalAsst</a:t>
            </a:r>
            <a:r>
              <a:rPr lang="en-GB" sz="2300" dirty="0">
                <a:latin typeface="Times New Roman" pitchFamily="18" charset="0"/>
                <a:cs typeface="Times New Roman" pitchFamily="18" charset="0"/>
              </a:rPr>
              <a:t>: Human-</a:t>
            </a:r>
            <a:r>
              <a:rPr lang="en-GB" sz="2300" dirty="0" err="1">
                <a:latin typeface="Times New Roman" pitchFamily="18" charset="0"/>
                <a:cs typeface="Times New Roman" pitchFamily="18" charset="0"/>
              </a:rPr>
              <a:t>centered</a:t>
            </a:r>
            <a:r>
              <a:rPr lang="en-GB" sz="2300" dirty="0">
                <a:latin typeface="Times New Roman" pitchFamily="18" charset="0"/>
                <a:cs typeface="Times New Roman" pitchFamily="18" charset="0"/>
              </a:rPr>
              <a:t> and AI-empowered machine to enhance court productivity and legal assistance. Information Sciences, 679, 121052.</a:t>
            </a:r>
          </a:p>
          <a:p>
            <a:pPr algn="just"/>
            <a:r>
              <a:rPr lang="en-US" sz="2300" dirty="0">
                <a:latin typeface="Times New Roman" pitchFamily="18" charset="0"/>
                <a:cs typeface="Times New Roman" pitchFamily="18" charset="0"/>
              </a:rPr>
              <a:t>Dhore, M., Vimal, A., Agrawal, A., Bajaj, R., &amp; Barde, R. (2024, July). </a:t>
            </a:r>
            <a:r>
              <a:rPr lang="en-US" sz="2300" dirty="0" err="1">
                <a:latin typeface="Times New Roman" pitchFamily="18" charset="0"/>
                <a:cs typeface="Times New Roman" pitchFamily="18" charset="0"/>
              </a:rPr>
              <a:t>Bettercall</a:t>
            </a:r>
            <a:r>
              <a:rPr lang="en-US" sz="2300" dirty="0">
                <a:latin typeface="Times New Roman" pitchFamily="18" charset="0"/>
                <a:cs typeface="Times New Roman" pitchFamily="18" charset="0"/>
              </a:rPr>
              <a:t>: AI based legal assistant. In 2024 5th International Conference on Image Processing and Capsule Networks (ICIPCN) (pp. 248-256). IEEE.</a:t>
            </a:r>
          </a:p>
          <a:p>
            <a:pPr algn="just"/>
            <a:r>
              <a:rPr lang="en-GB" sz="2300" dirty="0">
                <a:latin typeface="Times New Roman" pitchFamily="18" charset="0"/>
                <a:cs typeface="Times New Roman" pitchFamily="18" charset="0"/>
              </a:rPr>
              <a:t>Riaz, C. H., &amp; Hadi, M. U. (2025). Aura: An AI-Powered Legal Assistant for Enhancing Access to Justice in the UK Legal System. </a:t>
            </a:r>
            <a:r>
              <a:rPr lang="en-GB" sz="2300" dirty="0" err="1">
                <a:latin typeface="Times New Roman" pitchFamily="18" charset="0"/>
                <a:cs typeface="Times New Roman" pitchFamily="18" charset="0"/>
              </a:rPr>
              <a:t>Authorea</a:t>
            </a:r>
            <a:r>
              <a:rPr lang="en-GB" sz="2300" dirty="0">
                <a:latin typeface="Times New Roman" pitchFamily="18" charset="0"/>
                <a:cs typeface="Times New Roman" pitchFamily="18" charset="0"/>
              </a:rPr>
              <a:t> Preprints.</a:t>
            </a: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17</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16359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p:txBody>
          <a:bodyPr>
            <a:noAutofit/>
          </a:bodyPr>
          <a:lstStyle/>
          <a:p>
            <a:pPr algn="just"/>
            <a:r>
              <a:rPr lang="en-US" sz="2300" dirty="0">
                <a:latin typeface="Times New Roman" pitchFamily="18" charset="0"/>
                <a:cs typeface="Times New Roman" pitchFamily="18" charset="0"/>
              </a:rPr>
              <a:t>Tiwari, A., Kalamkar, P., Banerjee, A., Karn, S., Hemachandran, V., &amp; Gupta, S. (2024). Aalap: Ai assistant for legal &amp; paralegal functions in </a:t>
            </a:r>
            <a:r>
              <a:rPr lang="en-US" sz="2300" dirty="0" err="1">
                <a:latin typeface="Times New Roman" pitchFamily="18" charset="0"/>
                <a:cs typeface="Times New Roman" pitchFamily="18" charset="0"/>
              </a:rPr>
              <a:t>india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arXiv</a:t>
            </a:r>
            <a:r>
              <a:rPr lang="en-US" sz="2300" dirty="0">
                <a:latin typeface="Times New Roman" pitchFamily="18" charset="0"/>
                <a:cs typeface="Times New Roman" pitchFamily="18" charset="0"/>
              </a:rPr>
              <a:t> preprint arXiv:2402.01758.</a:t>
            </a:r>
          </a:p>
          <a:p>
            <a:pPr algn="just"/>
            <a:r>
              <a:rPr lang="en-GB" sz="2300" dirty="0">
                <a:latin typeface="Times New Roman" pitchFamily="18" charset="0"/>
                <a:cs typeface="Times New Roman" pitchFamily="18" charset="0"/>
              </a:rPr>
              <a:t>Shu, D., Zhao, H., Liu, X., Demeter, D., Du, M., &amp; Zhang, Y. (2024, October). </a:t>
            </a:r>
            <a:r>
              <a:rPr lang="en-GB" sz="2300" dirty="0" err="1">
                <a:latin typeface="Times New Roman" pitchFamily="18" charset="0"/>
                <a:cs typeface="Times New Roman" pitchFamily="18" charset="0"/>
              </a:rPr>
              <a:t>LawLLM</a:t>
            </a:r>
            <a:r>
              <a:rPr lang="en-GB" sz="2300" dirty="0">
                <a:latin typeface="Times New Roman" pitchFamily="18" charset="0"/>
                <a:cs typeface="Times New Roman" pitchFamily="18" charset="0"/>
              </a:rPr>
              <a:t>: Law large language model for the US legal system. In Proceedings of the 33rd ACM International Conference on information and knowledge management (pp. 4882-4889).</a:t>
            </a:r>
          </a:p>
          <a:p>
            <a:pPr algn="just"/>
            <a:r>
              <a:rPr lang="en-US" sz="2300" dirty="0">
                <a:latin typeface="Times New Roman" pitchFamily="18" charset="0"/>
                <a:cs typeface="Times New Roman" pitchFamily="18" charset="0"/>
              </a:rPr>
              <a:t>Yue, S., Chen, W., Wang, S., Li, B., Shen, C., Liu, S., ... &amp; Wei, Z. (2023). Disc-</a:t>
            </a:r>
            <a:r>
              <a:rPr lang="en-US" sz="2300" dirty="0" err="1">
                <a:latin typeface="Times New Roman" pitchFamily="18" charset="0"/>
                <a:cs typeface="Times New Roman" pitchFamily="18" charset="0"/>
              </a:rPr>
              <a:t>lawllm</a:t>
            </a:r>
            <a:r>
              <a:rPr lang="en-US" sz="2300" dirty="0">
                <a:latin typeface="Times New Roman" pitchFamily="18" charset="0"/>
                <a:cs typeface="Times New Roman" pitchFamily="18" charset="0"/>
              </a:rPr>
              <a:t>: Fine-tuning large language models for intelligent legal services. </a:t>
            </a:r>
            <a:r>
              <a:rPr lang="en-US" sz="2300" dirty="0" err="1">
                <a:latin typeface="Times New Roman" pitchFamily="18" charset="0"/>
                <a:cs typeface="Times New Roman" pitchFamily="18" charset="0"/>
              </a:rPr>
              <a:t>arXiv</a:t>
            </a:r>
            <a:r>
              <a:rPr lang="en-US" sz="2300" dirty="0">
                <a:latin typeface="Times New Roman" pitchFamily="18" charset="0"/>
                <a:cs typeface="Times New Roman" pitchFamily="18" charset="0"/>
              </a:rPr>
              <a:t> preprint arXiv:2309.11325</a:t>
            </a:r>
          </a:p>
          <a:p>
            <a:pPr algn="just"/>
            <a:r>
              <a:rPr lang="en-US" sz="2300" dirty="0">
                <a:latin typeface="Times New Roman" pitchFamily="18" charset="0"/>
                <a:cs typeface="Times New Roman" pitchFamily="18" charset="0"/>
              </a:rPr>
              <a:t>Nigam, S. K., Sharma, A., Khanna, D., Shallum, N., Ghosh, K., &amp; Bhattacharya, A. (2024). Legal judgment reimagined: </a:t>
            </a:r>
            <a:r>
              <a:rPr lang="en-US" sz="2300" dirty="0" err="1">
                <a:latin typeface="Times New Roman" pitchFamily="18" charset="0"/>
                <a:cs typeface="Times New Roman" pitchFamily="18" charset="0"/>
              </a:rPr>
              <a:t>PredEx</a:t>
            </a:r>
            <a:r>
              <a:rPr lang="en-US" sz="2300" dirty="0">
                <a:latin typeface="Times New Roman" pitchFamily="18" charset="0"/>
                <a:cs typeface="Times New Roman" pitchFamily="18" charset="0"/>
              </a:rPr>
              <a:t> and the rise of intelligent AI interpretation in Indian courts. </a:t>
            </a:r>
            <a:r>
              <a:rPr lang="en-US" sz="2300" dirty="0" err="1">
                <a:latin typeface="Times New Roman" pitchFamily="18" charset="0"/>
                <a:cs typeface="Times New Roman" pitchFamily="18" charset="0"/>
              </a:rPr>
              <a:t>arXiv</a:t>
            </a:r>
            <a:r>
              <a:rPr lang="en-US" sz="2300" dirty="0">
                <a:latin typeface="Times New Roman" pitchFamily="18" charset="0"/>
                <a:cs typeface="Times New Roman" pitchFamily="18" charset="0"/>
              </a:rPr>
              <a:t> preprint arXiv:2406.04136.</a:t>
            </a: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18</a:t>
            </a:fld>
            <a:endParaRPr kumimoji="0" lang="en-US" sz="15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0899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p:txBody>
          <a:bodyPr>
            <a:noAutofit/>
          </a:bodyPr>
          <a:lstStyle/>
          <a:p>
            <a:pPr algn="just"/>
            <a:r>
              <a:rPr lang="en-US" sz="2300" dirty="0">
                <a:latin typeface="Times New Roman" pitchFamily="18" charset="0"/>
                <a:cs typeface="Times New Roman" pitchFamily="18" charset="0"/>
              </a:rPr>
              <a:t>Jacob, S., Jacob, P. M., Cheriyan, J., &amp; Ismail, S. (2024, September). Legal Assistance Redefined: Transforming Legal Access with AI-Powered </a:t>
            </a:r>
            <a:r>
              <a:rPr lang="en-US" sz="2300" dirty="0" err="1">
                <a:latin typeface="Times New Roman" pitchFamily="18" charset="0"/>
                <a:cs typeface="Times New Roman" pitchFamily="18" charset="0"/>
              </a:rPr>
              <a:t>LegalLink</a:t>
            </a:r>
            <a:r>
              <a:rPr lang="en-US" sz="2300" dirty="0">
                <a:latin typeface="Times New Roman" pitchFamily="18" charset="0"/>
                <a:cs typeface="Times New Roman" pitchFamily="18" charset="0"/>
              </a:rPr>
              <a:t>. In 2024 IEEE International Conference on Signal Processing, Informatics, Communication and Energy Systems (SPICES) (pp. 1-6). IEEE.</a:t>
            </a:r>
          </a:p>
          <a:p>
            <a:pPr algn="just"/>
            <a:r>
              <a:rPr lang="en-GB" sz="2300" dirty="0">
                <a:latin typeface="Times New Roman" pitchFamily="18" charset="0"/>
                <a:cs typeface="Times New Roman" pitchFamily="18" charset="0"/>
              </a:rPr>
              <a:t>Zeng, G., Tian, G., Zhang, G., &amp; Lu, J. (2025). </a:t>
            </a:r>
            <a:r>
              <a:rPr lang="en-GB" sz="2300" dirty="0" err="1">
                <a:latin typeface="Times New Roman" pitchFamily="18" charset="0"/>
                <a:cs typeface="Times New Roman" pitchFamily="18" charset="0"/>
              </a:rPr>
              <a:t>RoSiLC</a:t>
            </a:r>
            <a:r>
              <a:rPr lang="en-GB" sz="2300" dirty="0">
                <a:latin typeface="Times New Roman" pitchFamily="18" charset="0"/>
                <a:cs typeface="Times New Roman" pitchFamily="18" charset="0"/>
              </a:rPr>
              <a:t>-RS: A Robust Similar Legal Case Recommender System Empowered by Large Language Model and Step-Back Prompting. Neurocomputing, 648, 130660. https://doi.org/10.1016/j.neucom.2025.130660</a:t>
            </a:r>
          </a:p>
          <a:p>
            <a:pPr algn="just"/>
            <a:r>
              <a:rPr lang="en-IN" sz="2300" dirty="0" err="1">
                <a:latin typeface="Times New Roman" panose="02020603050405020304" pitchFamily="18" charset="0"/>
                <a:cs typeface="Times New Roman" panose="02020603050405020304" pitchFamily="18" charset="0"/>
              </a:rPr>
              <a:t>Izacard</a:t>
            </a:r>
            <a:r>
              <a:rPr lang="en-IN" sz="2300" dirty="0">
                <a:latin typeface="Times New Roman" panose="02020603050405020304" pitchFamily="18" charset="0"/>
                <a:cs typeface="Times New Roman" panose="02020603050405020304" pitchFamily="18" charset="0"/>
              </a:rPr>
              <a:t>, G., Lewis, P., Lomeli, M., Hosseini, L., Petroni, F., Schick, T., ... &amp; Grave, E. (2023). Atlas: Few-shot learning with retrieval augmented language models. </a:t>
            </a:r>
            <a:r>
              <a:rPr lang="en-IN" sz="2300" i="1" dirty="0">
                <a:latin typeface="Times New Roman" panose="02020603050405020304" pitchFamily="18" charset="0"/>
                <a:cs typeface="Times New Roman" panose="02020603050405020304" pitchFamily="18" charset="0"/>
              </a:rPr>
              <a:t>Journal of Machine Learning Research</a:t>
            </a:r>
            <a:r>
              <a:rPr lang="en-IN" sz="2300" dirty="0">
                <a:latin typeface="Times New Roman" panose="02020603050405020304" pitchFamily="18" charset="0"/>
                <a:cs typeface="Times New Roman" panose="02020603050405020304" pitchFamily="18" charset="0"/>
              </a:rPr>
              <a:t>, </a:t>
            </a:r>
            <a:r>
              <a:rPr lang="en-IN" sz="2300" i="1" dirty="0">
                <a:latin typeface="Times New Roman" panose="02020603050405020304" pitchFamily="18" charset="0"/>
                <a:cs typeface="Times New Roman" panose="02020603050405020304" pitchFamily="18" charset="0"/>
              </a:rPr>
              <a:t>24</a:t>
            </a:r>
            <a:r>
              <a:rPr lang="en-IN" sz="2300" dirty="0">
                <a:latin typeface="Times New Roman" panose="02020603050405020304" pitchFamily="18" charset="0"/>
                <a:cs typeface="Times New Roman" panose="02020603050405020304" pitchFamily="18" charset="0"/>
              </a:rPr>
              <a:t>(251), 1-43.</a:t>
            </a:r>
          </a:p>
          <a:p>
            <a:pPr algn="just"/>
            <a:r>
              <a:rPr lang="en-US" sz="2200" dirty="0">
                <a:latin typeface="Times New Roman" panose="02020603050405020304" pitchFamily="18" charset="0"/>
                <a:cs typeface="Times New Roman" pitchFamily="18" charset="0"/>
              </a:rPr>
              <a:t>Borgeaud, S., Mensch, A., Hoffmann, J., Cai, T., Rutherford, E., Millican, K., van den Driessche, G., </a:t>
            </a:r>
            <a:r>
              <a:rPr lang="en-US" sz="2200" dirty="0" err="1">
                <a:latin typeface="Times New Roman" panose="02020603050405020304" pitchFamily="18" charset="0"/>
                <a:cs typeface="Times New Roman" pitchFamily="18" charset="0"/>
              </a:rPr>
              <a:t>Lespiau</a:t>
            </a:r>
            <a:r>
              <a:rPr lang="en-US" sz="2200" dirty="0">
                <a:latin typeface="Times New Roman" panose="02020603050405020304" pitchFamily="18" charset="0"/>
                <a:cs typeface="Times New Roman" pitchFamily="18" charset="0"/>
              </a:rPr>
              <a:t>, J.-B., </a:t>
            </a:r>
            <a:r>
              <a:rPr lang="en-US" sz="2200" dirty="0" err="1">
                <a:latin typeface="Times New Roman" panose="02020603050405020304" pitchFamily="18" charset="0"/>
                <a:cs typeface="Times New Roman" pitchFamily="18" charset="0"/>
              </a:rPr>
              <a:t>Damoc</a:t>
            </a:r>
            <a:r>
              <a:rPr lang="en-US" sz="2200" dirty="0">
                <a:latin typeface="Times New Roman" panose="02020603050405020304" pitchFamily="18" charset="0"/>
                <a:cs typeface="Times New Roman" pitchFamily="18" charset="0"/>
              </a:rPr>
              <a:t>, B., Clark, A., de Las Casas, D., Guy, A., Menick, J., Ring, R., Hennigan, T., Huang, S., Maggiore, L., Jones, C., Cassirer, A., ... Sifre, L. (2022). Improving language models by retrieving from trillions of tokens. In Proceedings of the 39th International Conference on Machine Learning (ICML) (PMLR 162).</a:t>
            </a: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19</a:t>
            </a:fld>
            <a:endParaRPr kumimoji="0" lang="en-US" sz="15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77225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p:txBody>
          <a:bodyPr>
            <a:noAutofit/>
          </a:bodyPr>
          <a:lstStyle/>
          <a:p>
            <a:pPr lvl="0" algn="just"/>
            <a:r>
              <a:rPr lang="en-US" sz="2300" dirty="0">
                <a:latin typeface="Times New Roman" pitchFamily="18" charset="0"/>
                <a:cs typeface="Times New Roman" pitchFamily="18" charset="0"/>
              </a:rPr>
              <a:t>Jong, M. de, </a:t>
            </a:r>
            <a:r>
              <a:rPr lang="en-US" sz="2300" dirty="0" err="1">
                <a:latin typeface="Times New Roman" pitchFamily="18" charset="0"/>
                <a:cs typeface="Times New Roman" pitchFamily="18" charset="0"/>
              </a:rPr>
              <a:t>Zemlyanskiy</a:t>
            </a:r>
            <a:r>
              <a:rPr lang="en-US" sz="2300" dirty="0">
                <a:latin typeface="Times New Roman" pitchFamily="18" charset="0"/>
                <a:cs typeface="Times New Roman" pitchFamily="18" charset="0"/>
              </a:rPr>
              <a:t>, Y., Ainslie, J., FitzGerald, N., Sanghai, S., Sha, F., &amp; Cohen, W. W. (2022). </a:t>
            </a:r>
            <a:r>
              <a:rPr lang="en-US" sz="2300" dirty="0" err="1">
                <a:latin typeface="Times New Roman" pitchFamily="18" charset="0"/>
                <a:cs typeface="Times New Roman" pitchFamily="18" charset="0"/>
              </a:rPr>
              <a:t>FiDO</a:t>
            </a:r>
            <a:r>
              <a:rPr lang="en-US" sz="2300" dirty="0">
                <a:latin typeface="Times New Roman" pitchFamily="18" charset="0"/>
                <a:cs typeface="Times New Roman" pitchFamily="18" charset="0"/>
              </a:rPr>
              <a:t>: Fusion-in-Decoder optimized for stronger performance and faster inference. </a:t>
            </a:r>
            <a:r>
              <a:rPr lang="en-US" sz="2300" dirty="0" err="1">
                <a:latin typeface="Times New Roman" pitchFamily="18" charset="0"/>
                <a:cs typeface="Times New Roman" pitchFamily="18" charset="0"/>
              </a:rPr>
              <a:t>arXiv</a:t>
            </a:r>
            <a:r>
              <a:rPr lang="en-US" sz="2300" dirty="0">
                <a:latin typeface="Times New Roman" pitchFamily="18" charset="0"/>
                <a:cs typeface="Times New Roman" pitchFamily="18" charset="0"/>
              </a:rPr>
              <a:t> preprint arXiv:2212.08153.</a:t>
            </a:r>
          </a:p>
          <a:p>
            <a:pPr lvl="0" algn="just"/>
            <a:r>
              <a:rPr lang="en-US" sz="2300" dirty="0">
                <a:latin typeface="Times New Roman" pitchFamily="18" charset="0"/>
                <a:cs typeface="Times New Roman" pitchFamily="18" charset="0"/>
              </a:rPr>
              <a:t>Lewis, P., Perez, E., </a:t>
            </a:r>
            <a:r>
              <a:rPr lang="en-US" sz="2300" dirty="0" err="1">
                <a:latin typeface="Times New Roman" pitchFamily="18" charset="0"/>
                <a:cs typeface="Times New Roman" pitchFamily="18" charset="0"/>
              </a:rPr>
              <a:t>Piktus</a:t>
            </a:r>
            <a:r>
              <a:rPr lang="en-US" sz="2300" dirty="0">
                <a:latin typeface="Times New Roman" pitchFamily="18" charset="0"/>
                <a:cs typeface="Times New Roman" pitchFamily="18" charset="0"/>
              </a:rPr>
              <a:t>, A., Petroni, F., </a:t>
            </a:r>
            <a:r>
              <a:rPr lang="en-US" sz="2300" dirty="0" err="1">
                <a:latin typeface="Times New Roman" pitchFamily="18" charset="0"/>
                <a:cs typeface="Times New Roman" pitchFamily="18" charset="0"/>
              </a:rPr>
              <a:t>Karpukhin</a:t>
            </a:r>
            <a:r>
              <a:rPr lang="en-US" sz="2300" dirty="0">
                <a:latin typeface="Times New Roman" pitchFamily="18" charset="0"/>
                <a:cs typeface="Times New Roman" pitchFamily="18" charset="0"/>
              </a:rPr>
              <a:t>, V., Goyal, N., </a:t>
            </a:r>
            <a:r>
              <a:rPr lang="en-US" sz="2300" dirty="0" err="1">
                <a:latin typeface="Times New Roman" pitchFamily="18" charset="0"/>
                <a:cs typeface="Times New Roman" pitchFamily="18" charset="0"/>
              </a:rPr>
              <a:t>Küttler</a:t>
            </a:r>
            <a:r>
              <a:rPr lang="en-US" sz="2300" dirty="0">
                <a:latin typeface="Times New Roman" pitchFamily="18" charset="0"/>
                <a:cs typeface="Times New Roman" pitchFamily="18" charset="0"/>
              </a:rPr>
              <a:t>, H., Lewis, M., Yih, W.-t., </a:t>
            </a:r>
            <a:r>
              <a:rPr lang="en-US" sz="2300" dirty="0" err="1">
                <a:latin typeface="Times New Roman" pitchFamily="18" charset="0"/>
                <a:cs typeface="Times New Roman" pitchFamily="18" charset="0"/>
              </a:rPr>
              <a:t>Rocktäschel</a:t>
            </a:r>
            <a:r>
              <a:rPr lang="en-US" sz="2300" dirty="0">
                <a:latin typeface="Times New Roman" pitchFamily="18" charset="0"/>
                <a:cs typeface="Times New Roman" pitchFamily="18" charset="0"/>
              </a:rPr>
              <a:t>, T., Riedel, S., &amp; Kiela, D. (2020). Retrieval-augmented generation for knowledge-intensive NLP tasks. In Advances in Neural Information Processing Systems (</a:t>
            </a:r>
            <a:r>
              <a:rPr lang="en-US" sz="2300" dirty="0" err="1">
                <a:latin typeface="Times New Roman" pitchFamily="18" charset="0"/>
                <a:cs typeface="Times New Roman" pitchFamily="18" charset="0"/>
              </a:rPr>
              <a:t>NeurIPS</a:t>
            </a:r>
            <a:r>
              <a:rPr lang="en-US" sz="2300" dirty="0">
                <a:latin typeface="Times New Roman" pitchFamily="18" charset="0"/>
                <a:cs typeface="Times New Roman" pitchFamily="18" charset="0"/>
              </a:rPr>
              <a:t> 2020).</a:t>
            </a:r>
          </a:p>
          <a:p>
            <a:pPr lvl="0" algn="just"/>
            <a:r>
              <a:rPr lang="en-US" sz="2300" dirty="0" err="1">
                <a:latin typeface="Times New Roman" pitchFamily="18" charset="0"/>
                <a:cs typeface="Times New Roman" pitchFamily="18" charset="0"/>
              </a:rPr>
              <a:t>Karpukhin</a:t>
            </a:r>
            <a:r>
              <a:rPr lang="en-US" sz="2300" dirty="0">
                <a:latin typeface="Times New Roman" pitchFamily="18" charset="0"/>
                <a:cs typeface="Times New Roman" pitchFamily="18" charset="0"/>
              </a:rPr>
              <a:t>, V., Oğuz, B., Min, S., Lewis, P., Wu, L., </a:t>
            </a:r>
            <a:r>
              <a:rPr lang="en-US" sz="2300" dirty="0" err="1">
                <a:latin typeface="Times New Roman" pitchFamily="18" charset="0"/>
                <a:cs typeface="Times New Roman" pitchFamily="18" charset="0"/>
              </a:rPr>
              <a:t>Edunov</a:t>
            </a:r>
            <a:r>
              <a:rPr lang="en-US" sz="2300" dirty="0">
                <a:latin typeface="Times New Roman" pitchFamily="18" charset="0"/>
                <a:cs typeface="Times New Roman" pitchFamily="18" charset="0"/>
              </a:rPr>
              <a:t>, S., Chen, D., &amp; Yih, W.-t. (2020). Dense passage retrieval for open-domain question answering. In Proceedings of the 2020 Conference on Empirical Methods in Natural Language Processing (EMNLP) (pp. 6769–6781). Association for Computational Linguistics.</a:t>
            </a:r>
          </a:p>
          <a:p>
            <a:pPr lvl="0" algn="just"/>
            <a:r>
              <a:rPr lang="en-GB" sz="2300" dirty="0" err="1">
                <a:latin typeface="Times New Roman" pitchFamily="18" charset="0"/>
                <a:cs typeface="Times New Roman" pitchFamily="18" charset="0"/>
              </a:rPr>
              <a:t>Guu</a:t>
            </a:r>
            <a:r>
              <a:rPr lang="en-GB" sz="2300" dirty="0">
                <a:latin typeface="Times New Roman" pitchFamily="18" charset="0"/>
                <a:cs typeface="Times New Roman" pitchFamily="18" charset="0"/>
              </a:rPr>
              <a:t>, K., Lee, K., Tung, Z., </a:t>
            </a:r>
            <a:r>
              <a:rPr lang="en-GB" sz="2300" dirty="0" err="1">
                <a:latin typeface="Times New Roman" pitchFamily="18" charset="0"/>
                <a:cs typeface="Times New Roman" pitchFamily="18" charset="0"/>
              </a:rPr>
              <a:t>Pasupat</a:t>
            </a:r>
            <a:r>
              <a:rPr lang="en-GB" sz="2300" dirty="0">
                <a:latin typeface="Times New Roman" pitchFamily="18" charset="0"/>
                <a:cs typeface="Times New Roman" pitchFamily="18" charset="0"/>
              </a:rPr>
              <a:t>, P., &amp; Chang, M.-W. (2020). REALM: Retrieval-augmented language model pre-training. In Proceedings of the 37th International Conference on Machine Learning (ICML) (PMLR 119).</a:t>
            </a:r>
            <a:endParaRPr lang="en-US" sz="23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20</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44156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819401"/>
            <a:ext cx="11521440" cy="1219200"/>
          </a:xfrm>
        </p:spPr>
        <p:txBody>
          <a:bodyPr>
            <a:normAutofit fontScale="90000"/>
          </a:bodyPr>
          <a:lstStyle/>
          <a:p>
            <a:r>
              <a:rPr lang="en-US" sz="10000" b="1" dirty="0">
                <a:solidFill>
                  <a:schemeClr val="tx2">
                    <a:lumMod val="60000"/>
                    <a:lumOff val="40000"/>
                  </a:schemeClr>
                </a:solidFill>
                <a:latin typeface="Times New Roman" pitchFamily="18" charset="0"/>
                <a:cs typeface="Times New Roman" pitchFamily="18" charset="0"/>
              </a:rPr>
              <a:t>Thank You</a:t>
            </a:r>
          </a:p>
        </p:txBody>
      </p:sp>
      <p:sp>
        <p:nvSpPr>
          <p:cNvPr id="3" name="Slide Number Placeholder 2"/>
          <p:cNvSpPr>
            <a:spLocks noGrp="1"/>
          </p:cNvSpPr>
          <p:nvPr>
            <p:ph type="sldNum" sz="quarter" idx="12"/>
          </p:nvPr>
        </p:nvSpPr>
        <p:spPr/>
        <p:txBody>
          <a:bodyPr/>
          <a:lstStyle/>
          <a:p>
            <a:fld id="{C02A2637-A5A3-49FA-B214-6E67543099EF}" type="slidenum">
              <a:rPr lang="en-US" smtClean="0"/>
              <a:t>21</a:t>
            </a:fld>
            <a:endParaRPr lang="en-US"/>
          </a:p>
        </p:txBody>
      </p:sp>
    </p:spTree>
    <p:extLst>
      <p:ext uri="{BB962C8B-B14F-4D97-AF65-F5344CB8AC3E}">
        <p14:creationId xmlns:p14="http://schemas.microsoft.com/office/powerpoint/2010/main" val="2750398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15713</TotalTime>
  <Words>2902</Words>
  <Application>Microsoft Office PowerPoint</Application>
  <PresentationFormat>Custom</PresentationFormat>
  <Paragraphs>208</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Times New Roman</vt:lpstr>
      <vt:lpstr>Wingdings</vt:lpstr>
      <vt:lpstr>Office Theme</vt:lpstr>
      <vt:lpstr>Design and Development of an AI-Powered Legal Assistant for Child Protection and Rights Awareness</vt:lpstr>
      <vt:lpstr>CONTENTS</vt:lpstr>
      <vt:lpstr>1.ABSTRACT</vt:lpstr>
      <vt:lpstr>2. INTRODUCTION</vt:lpstr>
      <vt:lpstr>3.LITERATURE SURVEY</vt:lpstr>
      <vt:lpstr>LITERATURE SURVEY (CONTD..,)</vt:lpstr>
      <vt:lpstr>LITERATURE SURVEY (CONTD..,)</vt:lpstr>
      <vt:lpstr>4. RESEARCH GAPS</vt:lpstr>
      <vt:lpstr>5. OBJECTIVES</vt:lpstr>
      <vt:lpstr>6. MODULE IDENTIFICATION</vt:lpstr>
      <vt:lpstr>7. SYSTEM ARCHITECTURE</vt:lpstr>
      <vt:lpstr>8. DEVELOPMENT &amp; INTEGRATION</vt:lpstr>
      <vt:lpstr>9. PROTOTYPE / RESEARCH FRAMEWORK</vt:lpstr>
      <vt:lpstr>10. OUTCOME</vt:lpstr>
      <vt:lpstr>11. RESULTS</vt:lpstr>
      <vt:lpstr>12. TIMELINE / GANTT CHART</vt:lpstr>
      <vt:lpstr>13. REFERENCES</vt:lpstr>
      <vt:lpstr>REFERENCES (CONTD..,)</vt:lpstr>
      <vt:lpstr>REFERENCES (CONTD..,)</vt:lpstr>
      <vt:lpstr>REFERENCES (CONTD..,)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APPROACH TO REDUCE LOAD ON CHANGE IMPACT ANALYSIS OVER SOFTWARE DEVELOPMENT</dc:title>
  <dc:creator>admin</dc:creator>
  <cp:lastModifiedBy>Arjun V P</cp:lastModifiedBy>
  <cp:revision>128</cp:revision>
  <dcterms:created xsi:type="dcterms:W3CDTF">2020-07-13T09:49:45Z</dcterms:created>
  <dcterms:modified xsi:type="dcterms:W3CDTF">2026-04-05T17:07:47Z</dcterms:modified>
</cp:coreProperties>
</file>